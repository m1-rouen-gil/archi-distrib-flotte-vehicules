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1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216000" y="812520"/>
            <a:ext cx="7127280" cy="400896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 txBox="1"/>
          <p:nvPr>
            <p:ph idx="3"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6" name="Google Shape;6;n"/>
          <p:cNvSpPr txBox="1"/>
          <p:nvPr>
            <p:ph idx="10" type="dt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400" u="none" cap="none" strike="noStrike"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400" u="none" cap="none" strike="noStrike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:notes"/>
          <p:cNvSpPr/>
          <p:nvPr>
            <p:ph idx="2" type="sldImg"/>
          </p:nvPr>
        </p:nvSpPr>
        <p:spPr>
          <a:xfrm>
            <a:off x="685800" y="1143000"/>
            <a:ext cx="5486100" cy="3085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2" name="Google Shape;62;p1:notes"/>
          <p:cNvSpPr txBox="1"/>
          <p:nvPr>
            <p:ph idx="1" type="body"/>
          </p:nvPr>
        </p:nvSpPr>
        <p:spPr>
          <a:xfrm>
            <a:off x="685800" y="4400640"/>
            <a:ext cx="548610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1:notes"/>
          <p:cNvSpPr txBox="1"/>
          <p:nvPr/>
        </p:nvSpPr>
        <p:spPr>
          <a:xfrm>
            <a:off x="3884760" y="8685360"/>
            <a:ext cx="2971500" cy="45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400" u="none" cap="none" strike="noStrike"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400" u="none" cap="none" strike="noStrike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:notes"/>
          <p:cNvSpPr/>
          <p:nvPr>
            <p:ph idx="2" type="sldImg"/>
          </p:nvPr>
        </p:nvSpPr>
        <p:spPr>
          <a:xfrm>
            <a:off x="685800" y="1143000"/>
            <a:ext cx="5486040" cy="30859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5" name="Google Shape;75;p2:notes"/>
          <p:cNvSpPr txBox="1"/>
          <p:nvPr>
            <p:ph idx="1"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2:notes"/>
          <p:cNvSpPr txBox="1"/>
          <p:nvPr/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400" u="none" cap="none" strike="noStrike"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400" u="none" cap="none" strike="noStrike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040" cy="30859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3" name="Google Shape;113;p4:notes"/>
          <p:cNvSpPr txBox="1"/>
          <p:nvPr>
            <p:ph idx="1"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4:notes"/>
          <p:cNvSpPr txBox="1"/>
          <p:nvPr/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400" u="none" cap="none" strike="noStrike"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400" u="none" cap="none" strike="noStrike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5:notes"/>
          <p:cNvSpPr/>
          <p:nvPr>
            <p:ph idx="2" type="sldImg"/>
          </p:nvPr>
        </p:nvSpPr>
        <p:spPr>
          <a:xfrm>
            <a:off x="685800" y="1143000"/>
            <a:ext cx="5486040" cy="30859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4" name="Google Shape;144;p5:notes"/>
          <p:cNvSpPr txBox="1"/>
          <p:nvPr>
            <p:ph idx="1"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5:notes"/>
          <p:cNvSpPr txBox="1"/>
          <p:nvPr/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lang="en-US" sz="1400" strike="noStrike"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sz="1400" strike="noStrike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7:notes"/>
          <p:cNvSpPr/>
          <p:nvPr>
            <p:ph idx="2" type="sldImg"/>
          </p:nvPr>
        </p:nvSpPr>
        <p:spPr>
          <a:xfrm>
            <a:off x="685800" y="1143000"/>
            <a:ext cx="5486100" cy="3085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7" name="Google Shape;177;p7:notes"/>
          <p:cNvSpPr txBox="1"/>
          <p:nvPr>
            <p:ph idx="1" type="body"/>
          </p:nvPr>
        </p:nvSpPr>
        <p:spPr>
          <a:xfrm>
            <a:off x="685800" y="4400640"/>
            <a:ext cx="548610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7:notes"/>
          <p:cNvSpPr txBox="1"/>
          <p:nvPr/>
        </p:nvSpPr>
        <p:spPr>
          <a:xfrm>
            <a:off x="3884760" y="8685360"/>
            <a:ext cx="2971500" cy="45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lang="en-US" sz="1400" strike="noStrike"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sz="1400" strike="noStrike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e2beb85f45_0_54:notes"/>
          <p:cNvSpPr/>
          <p:nvPr>
            <p:ph idx="2" type="sldImg"/>
          </p:nvPr>
        </p:nvSpPr>
        <p:spPr>
          <a:xfrm>
            <a:off x="685800" y="1143000"/>
            <a:ext cx="5486100" cy="3085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1" name="Google Shape;211;g3e2beb85f45_0_54:notes"/>
          <p:cNvSpPr txBox="1"/>
          <p:nvPr>
            <p:ph idx="1" type="body"/>
          </p:nvPr>
        </p:nvSpPr>
        <p:spPr>
          <a:xfrm>
            <a:off x="685800" y="4400640"/>
            <a:ext cx="548610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g3e2beb85f45_0_54:notes"/>
          <p:cNvSpPr txBox="1"/>
          <p:nvPr/>
        </p:nvSpPr>
        <p:spPr>
          <a:xfrm>
            <a:off x="3884760" y="8685360"/>
            <a:ext cx="2971500" cy="45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lang="en-US" sz="1400" strike="noStrike"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sz="1400" strike="noStrike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e2beb85f45_0_718:notes"/>
          <p:cNvSpPr/>
          <p:nvPr>
            <p:ph idx="2" type="sldImg"/>
          </p:nvPr>
        </p:nvSpPr>
        <p:spPr>
          <a:xfrm>
            <a:off x="216000" y="812520"/>
            <a:ext cx="7127400" cy="4008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9" name="Google Shape;239;g3e2beb85f45_0_718:notes"/>
          <p:cNvSpPr txBox="1"/>
          <p:nvPr>
            <p:ph idx="1" type="body"/>
          </p:nvPr>
        </p:nvSpPr>
        <p:spPr>
          <a:xfrm>
            <a:off x="756000" y="5078520"/>
            <a:ext cx="6047700" cy="481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g3e2beb85f45_0_718:notes"/>
          <p:cNvSpPr txBox="1"/>
          <p:nvPr>
            <p:ph idx="3" type="hdr"/>
          </p:nvPr>
        </p:nvSpPr>
        <p:spPr>
          <a:xfrm>
            <a:off x="0" y="0"/>
            <a:ext cx="3280800" cy="5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g3e2beb85f45_0_718:notes"/>
          <p:cNvSpPr txBox="1"/>
          <p:nvPr>
            <p:ph idx="10" type="dt"/>
          </p:nvPr>
        </p:nvSpPr>
        <p:spPr>
          <a:xfrm>
            <a:off x="4278960" y="0"/>
            <a:ext cx="3280800" cy="5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g3e2beb85f45_0_718:notes"/>
          <p:cNvSpPr txBox="1"/>
          <p:nvPr>
            <p:ph idx="11" type="ftr"/>
          </p:nvPr>
        </p:nvSpPr>
        <p:spPr>
          <a:xfrm>
            <a:off x="0" y="10157400"/>
            <a:ext cx="3280800" cy="5343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g3e2beb85f45_0_718:notes"/>
          <p:cNvSpPr txBox="1"/>
          <p:nvPr>
            <p:ph idx="12" type="sldNum"/>
          </p:nvPr>
        </p:nvSpPr>
        <p:spPr>
          <a:xfrm>
            <a:off x="4278960" y="10157400"/>
            <a:ext cx="3280800" cy="5343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6:notes"/>
          <p:cNvSpPr/>
          <p:nvPr>
            <p:ph idx="2" type="sldImg"/>
          </p:nvPr>
        </p:nvSpPr>
        <p:spPr>
          <a:xfrm>
            <a:off x="685800" y="1143000"/>
            <a:ext cx="5486100" cy="3085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0" name="Google Shape;270;p6:notes"/>
          <p:cNvSpPr txBox="1"/>
          <p:nvPr>
            <p:ph idx="1" type="body"/>
          </p:nvPr>
        </p:nvSpPr>
        <p:spPr>
          <a:xfrm>
            <a:off x="685800" y="4400640"/>
            <a:ext cx="548610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6:notes"/>
          <p:cNvSpPr txBox="1"/>
          <p:nvPr/>
        </p:nvSpPr>
        <p:spPr>
          <a:xfrm>
            <a:off x="3884760" y="8685360"/>
            <a:ext cx="2971500" cy="45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lang="en-US" sz="1400" strike="noStrike"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sz="1400" strike="noStrike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8:notes"/>
          <p:cNvSpPr/>
          <p:nvPr>
            <p:ph idx="2" type="sldImg"/>
          </p:nvPr>
        </p:nvSpPr>
        <p:spPr>
          <a:xfrm>
            <a:off x="685800" y="1143000"/>
            <a:ext cx="5486100" cy="3085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0" name="Google Shape;290;p8:notes"/>
          <p:cNvSpPr txBox="1"/>
          <p:nvPr>
            <p:ph idx="1" type="body"/>
          </p:nvPr>
        </p:nvSpPr>
        <p:spPr>
          <a:xfrm>
            <a:off x="685800" y="4400640"/>
            <a:ext cx="548610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8:notes"/>
          <p:cNvSpPr txBox="1"/>
          <p:nvPr/>
        </p:nvSpPr>
        <p:spPr>
          <a:xfrm>
            <a:off x="3884760" y="8685360"/>
            <a:ext cx="2971500" cy="45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lang="en-US" sz="1400" strike="noStrike"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sz="1400" strike="noStrike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11:notes"/>
          <p:cNvSpPr/>
          <p:nvPr>
            <p:ph idx="2" type="sldImg"/>
          </p:nvPr>
        </p:nvSpPr>
        <p:spPr>
          <a:xfrm>
            <a:off x="685800" y="1143000"/>
            <a:ext cx="5486040" cy="30859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6" name="Google Shape;306;p11:notes"/>
          <p:cNvSpPr txBox="1"/>
          <p:nvPr>
            <p:ph idx="1"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11:notes"/>
          <p:cNvSpPr txBox="1"/>
          <p:nvPr/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lang="en-US" sz="1400" strike="noStrike"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sz="1400" strike="noStrike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5" name="Google Shape;15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6" name="Google Shape;16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6" name="Google Shape;26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7" name="Google Shape;27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4" name="Google Shape;34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5" name="Google Shape;35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8" name="Google Shape;38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2" name="Google Shape;42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3" name="Google Shape;43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4" name="Google Shape;44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7" name="Google Shape;47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0" name="Google Shape;50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1" name="Google Shape;51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AND_BODY_1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3"/>
          <p:cNvSpPr txBox="1"/>
          <p:nvPr>
            <p:ph type="title"/>
          </p:nvPr>
        </p:nvSpPr>
        <p:spPr>
          <a:xfrm>
            <a:off x="457200" y="205200"/>
            <a:ext cx="8229300" cy="85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56" name="Google Shape;56;p13"/>
          <p:cNvSpPr txBox="1"/>
          <p:nvPr>
            <p:ph idx="1" type="subTitle"/>
          </p:nvPr>
        </p:nvSpPr>
        <p:spPr>
          <a:xfrm>
            <a:off x="457200" y="1203480"/>
            <a:ext cx="8229300" cy="298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1200"/>
              </a:spcBef>
              <a:spcAft>
                <a:spcPts val="120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3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buNone/>
              <a:defRPr sz="1300"/>
            </a:lvl1pPr>
            <a:lvl2pPr lvl="1">
              <a:buNone/>
              <a:defRPr sz="1300"/>
            </a:lvl2pPr>
            <a:lvl3pPr lvl="2">
              <a:buNone/>
              <a:defRPr sz="1300"/>
            </a:lvl3pPr>
            <a:lvl4pPr lvl="3">
              <a:buNone/>
              <a:defRPr sz="1300"/>
            </a:lvl4pPr>
            <a:lvl5pPr lvl="4">
              <a:buNone/>
              <a:defRPr sz="1300"/>
            </a:lvl5pPr>
            <a:lvl6pPr lvl="5">
              <a:buNone/>
              <a:defRPr sz="1300"/>
            </a:lvl6pPr>
            <a:lvl7pPr lvl="6">
              <a:buNone/>
              <a:defRPr sz="1300"/>
            </a:lvl7pPr>
            <a:lvl8pPr lvl="7">
              <a:buNone/>
              <a:defRPr sz="1300"/>
            </a:lvl8pPr>
            <a:lvl9pPr lvl="8">
              <a:buNone/>
              <a:defRPr sz="1300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(g3e2beb85f45_35_0)">
  <p:cSld name="Generated (g3e2beb85f45_35_0)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buNone/>
              <a:defRPr sz="1300"/>
            </a:lvl1pPr>
            <a:lvl2pPr lvl="1">
              <a:buNone/>
              <a:defRPr sz="1300"/>
            </a:lvl2pPr>
            <a:lvl3pPr lvl="2">
              <a:buNone/>
              <a:defRPr sz="1300"/>
            </a:lvl3pPr>
            <a:lvl4pPr lvl="3">
              <a:buNone/>
              <a:defRPr sz="1300"/>
            </a:lvl4pPr>
            <a:lvl5pPr lvl="4">
              <a:buNone/>
              <a:defRPr sz="1300"/>
            </a:lvl5pPr>
            <a:lvl6pPr lvl="5">
              <a:buNone/>
              <a:defRPr sz="1300"/>
            </a:lvl6pPr>
            <a:lvl7pPr lvl="6">
              <a:buNone/>
              <a:defRPr sz="1300"/>
            </a:lvl7pPr>
            <a:lvl8pPr lvl="7">
              <a:buNone/>
              <a:defRPr sz="1300"/>
            </a:lvl8pPr>
            <a:lvl9pPr lvl="8">
              <a:buNone/>
              <a:defRPr sz="1300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8.png"/><Relationship Id="rId6" Type="http://schemas.openxmlformats.org/officeDocument/2006/relationships/image" Target="../media/image10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628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5"/>
          <p:cNvSpPr/>
          <p:nvPr/>
        </p:nvSpPr>
        <p:spPr>
          <a:xfrm>
            <a:off x="0" y="0"/>
            <a:ext cx="319800" cy="5143200"/>
          </a:xfrm>
          <a:prstGeom prst="rect">
            <a:avLst/>
          </a:prstGeom>
          <a:solidFill>
            <a:srgbClr val="E8A020"/>
          </a:solidFill>
          <a:ln cap="flat" cmpd="sng" w="12600">
            <a:solidFill>
              <a:srgbClr val="E8A0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15"/>
          <p:cNvSpPr/>
          <p:nvPr/>
        </p:nvSpPr>
        <p:spPr>
          <a:xfrm>
            <a:off x="6583680" y="0"/>
            <a:ext cx="2559900" cy="5143200"/>
          </a:xfrm>
          <a:prstGeom prst="rect">
            <a:avLst/>
          </a:prstGeom>
          <a:solidFill>
            <a:srgbClr val="0D2B55"/>
          </a:solidFill>
          <a:ln cap="flat" cmpd="sng" w="12600">
            <a:solidFill>
              <a:srgbClr val="0D2B5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15"/>
          <p:cNvSpPr/>
          <p:nvPr/>
        </p:nvSpPr>
        <p:spPr>
          <a:xfrm>
            <a:off x="7772400" y="0"/>
            <a:ext cx="1371300" cy="5143200"/>
          </a:xfrm>
          <a:prstGeom prst="rect">
            <a:avLst/>
          </a:prstGeom>
          <a:solidFill>
            <a:srgbClr val="0D3A73"/>
          </a:solidFill>
          <a:ln cap="flat" cmpd="sng" w="12600">
            <a:solidFill>
              <a:srgbClr val="0D3A7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68" name="Google Shape;68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66560" y="1371600"/>
            <a:ext cx="1828440" cy="1554120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5"/>
          <p:cNvSpPr/>
          <p:nvPr/>
        </p:nvSpPr>
        <p:spPr>
          <a:xfrm>
            <a:off x="525765" y="1737355"/>
            <a:ext cx="5851800" cy="8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Système de Gestion de Flotte</a:t>
            </a:r>
            <a:endParaRPr b="0" i="0" sz="36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5"/>
          <p:cNvSpPr/>
          <p:nvPr/>
        </p:nvSpPr>
        <p:spPr>
          <a:xfrm>
            <a:off x="468200" y="4343645"/>
            <a:ext cx="5486100" cy="319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Master 1 GIL - Université de Rouen - 2025/2026</a:t>
            </a:r>
            <a:endParaRPr sz="1000">
              <a:solidFill>
                <a:srgbClr val="8CA0B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15"/>
          <p:cNvSpPr/>
          <p:nvPr/>
        </p:nvSpPr>
        <p:spPr>
          <a:xfrm>
            <a:off x="468200" y="4663440"/>
            <a:ext cx="5486100" cy="273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Encadrants : Lydia &amp; Luc</a:t>
            </a:r>
            <a:endParaRPr sz="1000">
              <a:solidFill>
                <a:srgbClr val="8CA0B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15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4FA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6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0A1628"/>
          </a:solidFill>
          <a:ln cap="flat" cmpd="sng" w="12600">
            <a:solidFill>
              <a:srgbClr val="0A16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/>
          <p:nvPr/>
        </p:nvSpPr>
        <p:spPr>
          <a:xfrm>
            <a:off x="365760" y="0"/>
            <a:ext cx="8229300" cy="77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Plan de présentation</a:t>
            </a:r>
            <a:endParaRPr b="0" i="0" sz="22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16"/>
          <p:cNvSpPr/>
          <p:nvPr/>
        </p:nvSpPr>
        <p:spPr>
          <a:xfrm>
            <a:off x="396355" y="3286345"/>
            <a:ext cx="4023000" cy="822600"/>
          </a:xfrm>
          <a:prstGeom prst="rect">
            <a:avLst/>
          </a:prstGeom>
          <a:solidFill>
            <a:srgbClr val="FFFFFF"/>
          </a:solidFill>
          <a:ln cap="flat" cmpd="sng" w="12600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16"/>
          <p:cNvSpPr/>
          <p:nvPr/>
        </p:nvSpPr>
        <p:spPr>
          <a:xfrm>
            <a:off x="396355" y="3286345"/>
            <a:ext cx="502500" cy="822600"/>
          </a:xfrm>
          <a:prstGeom prst="rect">
            <a:avLst/>
          </a:prstGeom>
          <a:solidFill>
            <a:srgbClr val="E8A020"/>
          </a:solidFill>
          <a:ln cap="flat" cmpd="sng" w="12600">
            <a:solidFill>
              <a:srgbClr val="E8A0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6"/>
          <p:cNvSpPr/>
          <p:nvPr/>
        </p:nvSpPr>
        <p:spPr>
          <a:xfrm>
            <a:off x="396355" y="3491905"/>
            <a:ext cx="502500" cy="41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b="1" lang="en-US" sz="1600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6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16"/>
          <p:cNvSpPr/>
          <p:nvPr/>
        </p:nvSpPr>
        <p:spPr>
          <a:xfrm>
            <a:off x="990715" y="3354745"/>
            <a:ext cx="3337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Micro Frontends</a:t>
            </a:r>
            <a:endParaRPr b="0" i="0" sz="13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16"/>
          <p:cNvSpPr/>
          <p:nvPr/>
        </p:nvSpPr>
        <p:spPr>
          <a:xfrm>
            <a:off x="990715" y="3663625"/>
            <a:ext cx="3337200" cy="34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Shell, drivers, location, maintenance, vehicles</a:t>
            </a:r>
            <a:endParaRPr b="0" i="0" sz="10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16"/>
          <p:cNvSpPr/>
          <p:nvPr/>
        </p:nvSpPr>
        <p:spPr>
          <a:xfrm>
            <a:off x="396360" y="1028520"/>
            <a:ext cx="4023000" cy="822600"/>
          </a:xfrm>
          <a:prstGeom prst="rect">
            <a:avLst/>
          </a:prstGeom>
          <a:solidFill>
            <a:srgbClr val="FFFFFF"/>
          </a:solidFill>
          <a:ln cap="flat" cmpd="sng" w="12600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6"/>
          <p:cNvSpPr/>
          <p:nvPr/>
        </p:nvSpPr>
        <p:spPr>
          <a:xfrm>
            <a:off x="396360" y="1028520"/>
            <a:ext cx="502500" cy="822600"/>
          </a:xfrm>
          <a:prstGeom prst="rect">
            <a:avLst/>
          </a:prstGeom>
          <a:solidFill>
            <a:srgbClr val="E8A020"/>
          </a:solidFill>
          <a:ln cap="flat" cmpd="sng" w="12600">
            <a:solidFill>
              <a:srgbClr val="E8A0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6"/>
          <p:cNvSpPr/>
          <p:nvPr/>
        </p:nvSpPr>
        <p:spPr>
          <a:xfrm>
            <a:off x="396360" y="1234080"/>
            <a:ext cx="502500" cy="41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b="0" i="0" sz="16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6"/>
          <p:cNvSpPr/>
          <p:nvPr/>
        </p:nvSpPr>
        <p:spPr>
          <a:xfrm>
            <a:off x="990720" y="1096920"/>
            <a:ext cx="3337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Microservices</a:t>
            </a:r>
            <a:endParaRPr b="0" i="0" sz="13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6"/>
          <p:cNvSpPr/>
          <p:nvPr/>
        </p:nvSpPr>
        <p:spPr>
          <a:xfrm>
            <a:off x="990720" y="1405440"/>
            <a:ext cx="3337200" cy="34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Véhicules, Conducteurs, Maintenance, Localisation, Événements</a:t>
            </a:r>
            <a:endParaRPr b="0" i="0" sz="10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6"/>
          <p:cNvSpPr/>
          <p:nvPr/>
        </p:nvSpPr>
        <p:spPr>
          <a:xfrm>
            <a:off x="4709160" y="1028285"/>
            <a:ext cx="4023000" cy="822600"/>
          </a:xfrm>
          <a:prstGeom prst="rect">
            <a:avLst/>
          </a:prstGeom>
          <a:solidFill>
            <a:srgbClr val="FFFFFF"/>
          </a:solidFill>
          <a:ln cap="flat" cmpd="sng" w="12600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6"/>
          <p:cNvSpPr/>
          <p:nvPr/>
        </p:nvSpPr>
        <p:spPr>
          <a:xfrm>
            <a:off x="4709160" y="1028285"/>
            <a:ext cx="502500" cy="822600"/>
          </a:xfrm>
          <a:prstGeom prst="rect">
            <a:avLst/>
          </a:prstGeom>
          <a:solidFill>
            <a:srgbClr val="E8A020"/>
          </a:solidFill>
          <a:ln cap="flat" cmpd="sng" w="12600">
            <a:solidFill>
              <a:srgbClr val="E8A0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6"/>
          <p:cNvSpPr/>
          <p:nvPr/>
        </p:nvSpPr>
        <p:spPr>
          <a:xfrm>
            <a:off x="4709160" y="1234205"/>
            <a:ext cx="502500" cy="41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b="0" i="0" sz="16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16"/>
          <p:cNvSpPr/>
          <p:nvPr/>
        </p:nvSpPr>
        <p:spPr>
          <a:xfrm>
            <a:off x="5303520" y="1097045"/>
            <a:ext cx="3337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Observabilité</a:t>
            </a:r>
            <a:endParaRPr b="0" i="0" sz="13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16"/>
          <p:cNvSpPr/>
          <p:nvPr/>
        </p:nvSpPr>
        <p:spPr>
          <a:xfrm>
            <a:off x="5303520" y="1405565"/>
            <a:ext cx="3337200" cy="34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Prometheus, Grafana, O</a:t>
            </a:r>
            <a:r>
              <a:rPr lang="en-US" sz="1000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Tel, Jaeger, Loki, Promtail</a:t>
            </a:r>
            <a:endParaRPr b="0" i="0" sz="10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6"/>
          <p:cNvSpPr/>
          <p:nvPr/>
        </p:nvSpPr>
        <p:spPr>
          <a:xfrm>
            <a:off x="396360" y="2137495"/>
            <a:ext cx="4023000" cy="822600"/>
          </a:xfrm>
          <a:prstGeom prst="rect">
            <a:avLst/>
          </a:prstGeom>
          <a:solidFill>
            <a:srgbClr val="FFFFFF"/>
          </a:solidFill>
          <a:ln cap="flat" cmpd="sng" w="12600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16"/>
          <p:cNvSpPr/>
          <p:nvPr/>
        </p:nvSpPr>
        <p:spPr>
          <a:xfrm>
            <a:off x="396360" y="2137495"/>
            <a:ext cx="502500" cy="822600"/>
          </a:xfrm>
          <a:prstGeom prst="rect">
            <a:avLst/>
          </a:prstGeom>
          <a:solidFill>
            <a:srgbClr val="E8A020"/>
          </a:solidFill>
          <a:ln cap="flat" cmpd="sng" w="12600">
            <a:solidFill>
              <a:srgbClr val="E8A0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16"/>
          <p:cNvSpPr/>
          <p:nvPr/>
        </p:nvSpPr>
        <p:spPr>
          <a:xfrm>
            <a:off x="396360" y="2343055"/>
            <a:ext cx="502500" cy="41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b="0" i="0" sz="16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6"/>
          <p:cNvSpPr/>
          <p:nvPr/>
        </p:nvSpPr>
        <p:spPr>
          <a:xfrm>
            <a:off x="990720" y="2205895"/>
            <a:ext cx="3337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Environnements</a:t>
            </a:r>
            <a:r>
              <a:rPr b="1" i="0" lang="en-US" sz="13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-US" sz="1300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et</a:t>
            </a:r>
            <a:r>
              <a:rPr b="1" i="0" lang="en-US" sz="13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 CI/CD</a:t>
            </a:r>
            <a:endParaRPr b="0" i="0" sz="13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6"/>
          <p:cNvSpPr/>
          <p:nvPr/>
        </p:nvSpPr>
        <p:spPr>
          <a:xfrm>
            <a:off x="990720" y="2514775"/>
            <a:ext cx="3337200" cy="34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Docker, Kubernetes, Helm, GitHub Actions</a:t>
            </a:r>
            <a:endParaRPr b="0" i="0" sz="10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6"/>
          <p:cNvSpPr/>
          <p:nvPr/>
        </p:nvSpPr>
        <p:spPr>
          <a:xfrm>
            <a:off x="4709160" y="2137240"/>
            <a:ext cx="4023000" cy="822600"/>
          </a:xfrm>
          <a:prstGeom prst="rect">
            <a:avLst/>
          </a:prstGeom>
          <a:solidFill>
            <a:srgbClr val="FFFFFF"/>
          </a:solidFill>
          <a:ln cap="flat" cmpd="sng" w="12600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16"/>
          <p:cNvSpPr/>
          <p:nvPr/>
        </p:nvSpPr>
        <p:spPr>
          <a:xfrm>
            <a:off x="4709160" y="2137240"/>
            <a:ext cx="502500" cy="822600"/>
          </a:xfrm>
          <a:prstGeom prst="rect">
            <a:avLst/>
          </a:prstGeom>
          <a:solidFill>
            <a:srgbClr val="E8A020"/>
          </a:solidFill>
          <a:ln cap="flat" cmpd="sng" w="12600">
            <a:solidFill>
              <a:srgbClr val="E8A0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16"/>
          <p:cNvSpPr/>
          <p:nvPr/>
        </p:nvSpPr>
        <p:spPr>
          <a:xfrm>
            <a:off x="4709160" y="2343160"/>
            <a:ext cx="502500" cy="41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b="1" lang="en-US" sz="1600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6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16"/>
          <p:cNvSpPr/>
          <p:nvPr/>
        </p:nvSpPr>
        <p:spPr>
          <a:xfrm>
            <a:off x="5303520" y="2206000"/>
            <a:ext cx="3337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Tests </a:t>
            </a:r>
            <a:r>
              <a:rPr b="1" lang="en-US" sz="1300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et</a:t>
            </a:r>
            <a:r>
              <a:rPr b="1" i="0" lang="en-US" sz="13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 Qualité</a:t>
            </a:r>
            <a:endParaRPr b="0" i="0" sz="13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16"/>
          <p:cNvSpPr/>
          <p:nvPr/>
        </p:nvSpPr>
        <p:spPr>
          <a:xfrm>
            <a:off x="5303520" y="2514520"/>
            <a:ext cx="3337200" cy="34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Charge, bout en bout, unitaire et intégration, linting, bruno</a:t>
            </a:r>
            <a:endParaRPr b="0" i="0" sz="10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16"/>
          <p:cNvSpPr/>
          <p:nvPr/>
        </p:nvSpPr>
        <p:spPr>
          <a:xfrm>
            <a:off x="4709160" y="3286095"/>
            <a:ext cx="4023000" cy="822600"/>
          </a:xfrm>
          <a:prstGeom prst="rect">
            <a:avLst/>
          </a:prstGeom>
          <a:solidFill>
            <a:srgbClr val="FFFFFF"/>
          </a:solidFill>
          <a:ln cap="flat" cmpd="sng" w="12600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16"/>
          <p:cNvSpPr/>
          <p:nvPr/>
        </p:nvSpPr>
        <p:spPr>
          <a:xfrm>
            <a:off x="4709123" y="3286345"/>
            <a:ext cx="502500" cy="822600"/>
          </a:xfrm>
          <a:prstGeom prst="rect">
            <a:avLst/>
          </a:prstGeom>
          <a:solidFill>
            <a:srgbClr val="E8A020"/>
          </a:solidFill>
          <a:ln cap="flat" cmpd="sng" w="12600">
            <a:solidFill>
              <a:srgbClr val="E8A0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6"/>
          <p:cNvSpPr/>
          <p:nvPr/>
        </p:nvSpPr>
        <p:spPr>
          <a:xfrm>
            <a:off x="4709123" y="3492265"/>
            <a:ext cx="502500" cy="41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b="1" lang="en-US" sz="1600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16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16"/>
          <p:cNvSpPr/>
          <p:nvPr/>
        </p:nvSpPr>
        <p:spPr>
          <a:xfrm>
            <a:off x="5303520" y="3354855"/>
            <a:ext cx="3337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Démonstration</a:t>
            </a:r>
            <a:endParaRPr b="0" i="0" sz="13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16"/>
          <p:cNvSpPr/>
          <p:nvPr/>
        </p:nvSpPr>
        <p:spPr>
          <a:xfrm>
            <a:off x="5303520" y="3663375"/>
            <a:ext cx="3337200" cy="34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Scénarios live, métriques temps réel</a:t>
            </a:r>
            <a:endParaRPr b="0" i="0" sz="10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628"/>
        </a:solid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7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08111E"/>
          </a:solidFill>
          <a:ln cap="flat" cmpd="sng" w="12600">
            <a:solidFill>
              <a:srgbClr val="0811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17"/>
          <p:cNvSpPr/>
          <p:nvPr/>
        </p:nvSpPr>
        <p:spPr>
          <a:xfrm>
            <a:off x="365760" y="0"/>
            <a:ext cx="8229240" cy="776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Architecture Microservices</a:t>
            </a:r>
            <a:endParaRPr b="0" i="0" sz="22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17"/>
          <p:cNvSpPr/>
          <p:nvPr/>
        </p:nvSpPr>
        <p:spPr>
          <a:xfrm>
            <a:off x="3429000" y="914400"/>
            <a:ext cx="2285640" cy="594000"/>
          </a:xfrm>
          <a:prstGeom prst="rect">
            <a:avLst/>
          </a:prstGeom>
          <a:solidFill>
            <a:srgbClr val="1A3A6B"/>
          </a:solidFill>
          <a:ln cap="flat" cmpd="sng" w="12600">
            <a:solidFill>
              <a:srgbClr val="0891B2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17"/>
          <p:cNvSpPr/>
          <p:nvPr/>
        </p:nvSpPr>
        <p:spPr>
          <a:xfrm>
            <a:off x="3429000" y="914400"/>
            <a:ext cx="2285640" cy="59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Frontend React (Microfrontend)</a:t>
            </a:r>
            <a:endParaRPr b="0" i="0" sz="11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17"/>
          <p:cNvSpPr/>
          <p:nvPr/>
        </p:nvSpPr>
        <p:spPr>
          <a:xfrm>
            <a:off x="4526280" y="1508760"/>
            <a:ext cx="91080" cy="273960"/>
          </a:xfrm>
          <a:prstGeom prst="rect">
            <a:avLst/>
          </a:prstGeom>
          <a:solidFill>
            <a:srgbClr val="E8A020"/>
          </a:solidFill>
          <a:ln cap="flat" cmpd="sng" w="12600">
            <a:solidFill>
              <a:srgbClr val="E8A0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2926080" y="1783080"/>
            <a:ext cx="3291480" cy="594000"/>
          </a:xfrm>
          <a:prstGeom prst="rect">
            <a:avLst/>
          </a:prstGeom>
          <a:solidFill>
            <a:srgbClr val="E8A020"/>
          </a:solidFill>
          <a:ln cap="flat" cmpd="sng" w="12600">
            <a:solidFill>
              <a:srgbClr val="E8A020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17"/>
          <p:cNvSpPr/>
          <p:nvPr/>
        </p:nvSpPr>
        <p:spPr>
          <a:xfrm>
            <a:off x="2926080" y="1783080"/>
            <a:ext cx="3291480" cy="59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API Gateway (GraphQL + REST + gRPC)</a:t>
            </a:r>
            <a:endParaRPr b="0" i="0" sz="12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17"/>
          <p:cNvSpPr/>
          <p:nvPr/>
        </p:nvSpPr>
        <p:spPr>
          <a:xfrm>
            <a:off x="320040" y="2743200"/>
            <a:ext cx="1508400" cy="594000"/>
          </a:xfrm>
          <a:prstGeom prst="rect">
            <a:avLst/>
          </a:prstGeom>
          <a:solidFill>
            <a:srgbClr val="0D6E9A"/>
          </a:solidFill>
          <a:ln cap="flat" cmpd="sng" w="12600">
            <a:solidFill>
              <a:srgbClr val="1590C4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17"/>
          <p:cNvSpPr/>
          <p:nvPr/>
        </p:nvSpPr>
        <p:spPr>
          <a:xfrm>
            <a:off x="320040" y="2743200"/>
            <a:ext cx="1508400" cy="59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Véhicules</a:t>
            </a:r>
            <a:endParaRPr b="0" i="0" sz="10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17"/>
          <p:cNvSpPr/>
          <p:nvPr/>
        </p:nvSpPr>
        <p:spPr>
          <a:xfrm>
            <a:off x="2020680" y="2743200"/>
            <a:ext cx="1508400" cy="594000"/>
          </a:xfrm>
          <a:prstGeom prst="rect">
            <a:avLst/>
          </a:prstGeom>
          <a:solidFill>
            <a:srgbClr val="0D6E9A"/>
          </a:solidFill>
          <a:ln cap="flat" cmpd="sng" w="12600">
            <a:solidFill>
              <a:srgbClr val="1590C4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17"/>
          <p:cNvSpPr/>
          <p:nvPr/>
        </p:nvSpPr>
        <p:spPr>
          <a:xfrm>
            <a:off x="2020680" y="2743200"/>
            <a:ext cx="1508400" cy="59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Conducteurs</a:t>
            </a:r>
            <a:endParaRPr b="0" i="0" sz="10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17"/>
          <p:cNvSpPr/>
          <p:nvPr/>
        </p:nvSpPr>
        <p:spPr>
          <a:xfrm>
            <a:off x="3721680" y="2743200"/>
            <a:ext cx="1508400" cy="594000"/>
          </a:xfrm>
          <a:prstGeom prst="rect">
            <a:avLst/>
          </a:prstGeom>
          <a:solidFill>
            <a:srgbClr val="0D6E9A"/>
          </a:solidFill>
          <a:ln cap="flat" cmpd="sng" w="12600">
            <a:solidFill>
              <a:srgbClr val="1590C4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17"/>
          <p:cNvSpPr/>
          <p:nvPr/>
        </p:nvSpPr>
        <p:spPr>
          <a:xfrm>
            <a:off x="3721680" y="2743200"/>
            <a:ext cx="1508400" cy="59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Maintenance</a:t>
            </a:r>
            <a:endParaRPr b="0" i="0" sz="10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17"/>
          <p:cNvSpPr/>
          <p:nvPr/>
        </p:nvSpPr>
        <p:spPr>
          <a:xfrm>
            <a:off x="5422320" y="2743200"/>
            <a:ext cx="1508400" cy="594000"/>
          </a:xfrm>
          <a:prstGeom prst="rect">
            <a:avLst/>
          </a:prstGeom>
          <a:solidFill>
            <a:srgbClr val="0D6E9A"/>
          </a:solidFill>
          <a:ln cap="flat" cmpd="sng" w="12600">
            <a:solidFill>
              <a:srgbClr val="1590C4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17"/>
          <p:cNvSpPr/>
          <p:nvPr/>
        </p:nvSpPr>
        <p:spPr>
          <a:xfrm>
            <a:off x="5422320" y="2743200"/>
            <a:ext cx="1508400" cy="59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Localisation</a:t>
            </a:r>
            <a:endParaRPr b="0" i="0" sz="10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17"/>
          <p:cNvSpPr/>
          <p:nvPr/>
        </p:nvSpPr>
        <p:spPr>
          <a:xfrm>
            <a:off x="7123320" y="2743200"/>
            <a:ext cx="1508400" cy="594000"/>
          </a:xfrm>
          <a:prstGeom prst="rect">
            <a:avLst/>
          </a:prstGeom>
          <a:solidFill>
            <a:srgbClr val="0D6E9A"/>
          </a:solidFill>
          <a:ln cap="flat" cmpd="sng" w="12600">
            <a:solidFill>
              <a:srgbClr val="1590C4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17"/>
          <p:cNvSpPr/>
          <p:nvPr/>
        </p:nvSpPr>
        <p:spPr>
          <a:xfrm>
            <a:off x="7123320" y="2743200"/>
            <a:ext cx="1508400" cy="59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Événements</a:t>
            </a:r>
            <a:endParaRPr b="0" i="0" sz="10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17"/>
          <p:cNvSpPr/>
          <p:nvPr/>
        </p:nvSpPr>
        <p:spPr>
          <a:xfrm>
            <a:off x="320040" y="3566160"/>
            <a:ext cx="8503560" cy="502560"/>
          </a:xfrm>
          <a:prstGeom prst="rect">
            <a:avLst/>
          </a:prstGeom>
          <a:solidFill>
            <a:srgbClr val="7B2D00"/>
          </a:solidFill>
          <a:ln cap="flat" cmpd="sng" w="12600">
            <a:solidFill>
              <a:srgbClr val="D4521E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17"/>
          <p:cNvSpPr/>
          <p:nvPr/>
        </p:nvSpPr>
        <p:spPr>
          <a:xfrm>
            <a:off x="320040" y="3566160"/>
            <a:ext cx="8503560" cy="502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Apache Kafka — Event Bus</a:t>
            </a:r>
            <a:endParaRPr b="0" i="0" sz="12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17"/>
          <p:cNvSpPr/>
          <p:nvPr/>
        </p:nvSpPr>
        <p:spPr>
          <a:xfrm>
            <a:off x="548640" y="4251960"/>
            <a:ext cx="2468520" cy="685440"/>
          </a:xfrm>
          <a:prstGeom prst="rect">
            <a:avLst/>
          </a:prstGeom>
          <a:solidFill>
            <a:srgbClr val="0A4A2A"/>
          </a:solidFill>
          <a:ln cap="flat" cmpd="sng" w="12600">
            <a:solidFill>
              <a:srgbClr val="8CA0BC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17"/>
          <p:cNvSpPr/>
          <p:nvPr/>
        </p:nvSpPr>
        <p:spPr>
          <a:xfrm>
            <a:off x="548640" y="4251960"/>
            <a:ext cx="2468520" cy="685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PostgreSQL</a:t>
            </a:r>
            <a:endParaRPr b="0" i="0" sz="9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TimescaleDB</a:t>
            </a:r>
            <a:endParaRPr b="0" i="0" sz="9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Redis</a:t>
            </a:r>
            <a:endParaRPr b="0" i="0" sz="9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17"/>
          <p:cNvSpPr/>
          <p:nvPr/>
        </p:nvSpPr>
        <p:spPr>
          <a:xfrm>
            <a:off x="3291840" y="4251960"/>
            <a:ext cx="2468520" cy="685440"/>
          </a:xfrm>
          <a:prstGeom prst="rect">
            <a:avLst/>
          </a:prstGeom>
          <a:solidFill>
            <a:srgbClr val="4A0A4A"/>
          </a:solidFill>
          <a:ln cap="flat" cmpd="sng" w="12600">
            <a:solidFill>
              <a:srgbClr val="8CA0BC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17"/>
          <p:cNvSpPr/>
          <p:nvPr/>
        </p:nvSpPr>
        <p:spPr>
          <a:xfrm>
            <a:off x="3291840" y="4251960"/>
            <a:ext cx="2468520" cy="685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Keycloak</a:t>
            </a:r>
            <a:endParaRPr b="0" i="0" sz="9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SSO · RBAC</a:t>
            </a:r>
            <a:endParaRPr b="0" i="0" sz="9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JWT</a:t>
            </a:r>
            <a:endParaRPr b="0" i="0" sz="9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17"/>
          <p:cNvSpPr/>
          <p:nvPr/>
        </p:nvSpPr>
        <p:spPr>
          <a:xfrm>
            <a:off x="6035040" y="4251960"/>
            <a:ext cx="2468520" cy="685440"/>
          </a:xfrm>
          <a:prstGeom prst="rect">
            <a:avLst/>
          </a:prstGeom>
          <a:solidFill>
            <a:srgbClr val="0A2A4A"/>
          </a:solidFill>
          <a:ln cap="flat" cmpd="sng" w="12600">
            <a:solidFill>
              <a:srgbClr val="8CA0BC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17"/>
          <p:cNvSpPr/>
          <p:nvPr/>
        </p:nvSpPr>
        <p:spPr>
          <a:xfrm>
            <a:off x="6035040" y="4251960"/>
            <a:ext cx="2468520" cy="685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Prometheus</a:t>
            </a:r>
            <a:endParaRPr b="0" i="0" sz="9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OTel · Grafana · Jaeger</a:t>
            </a:r>
            <a:endParaRPr b="0" i="0" sz="900" u="none" cap="none" strike="noStrike"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Loki</a:t>
            </a:r>
            <a:endParaRPr b="0" i="0" sz="9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4FA"/>
        </a:solidFill>
      </p:bgPr>
    </p:bg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8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0A1628"/>
          </a:solidFill>
          <a:ln cap="flat" cmpd="sng" w="12600">
            <a:solidFill>
              <a:srgbClr val="0A16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18"/>
          <p:cNvSpPr/>
          <p:nvPr/>
        </p:nvSpPr>
        <p:spPr>
          <a:xfrm>
            <a:off x="365760" y="0"/>
            <a:ext cx="8229240" cy="776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Services Développés</a:t>
            </a:r>
            <a:endParaRPr b="0" i="0" sz="22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18"/>
          <p:cNvSpPr/>
          <p:nvPr/>
        </p:nvSpPr>
        <p:spPr>
          <a:xfrm>
            <a:off x="320040" y="914400"/>
            <a:ext cx="2559960" cy="1919880"/>
          </a:xfrm>
          <a:prstGeom prst="rect">
            <a:avLst/>
          </a:prstGeom>
          <a:solidFill>
            <a:srgbClr val="FFFFFF"/>
          </a:solidFill>
          <a:ln cap="flat" cmpd="sng" w="12600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18"/>
          <p:cNvSpPr/>
          <p:nvPr/>
        </p:nvSpPr>
        <p:spPr>
          <a:xfrm>
            <a:off x="320040" y="914400"/>
            <a:ext cx="2559960" cy="456840"/>
          </a:xfrm>
          <a:prstGeom prst="rect">
            <a:avLst/>
          </a:prstGeom>
          <a:solidFill>
            <a:srgbClr val="0D5F9A"/>
          </a:solidFill>
          <a:ln cap="flat" cmpd="sng" w="12600">
            <a:solidFill>
              <a:srgbClr val="0D5F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18"/>
          <p:cNvSpPr/>
          <p:nvPr/>
        </p:nvSpPr>
        <p:spPr>
          <a:xfrm>
            <a:off x="457200" y="960120"/>
            <a:ext cx="2285640" cy="36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Véhicules</a:t>
            </a:r>
            <a:endParaRPr b="0" i="0" sz="14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18"/>
          <p:cNvSpPr/>
          <p:nvPr/>
        </p:nvSpPr>
        <p:spPr>
          <a:xfrm>
            <a:off x="457200" y="1444680"/>
            <a:ext cx="374868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0D5F9A"/>
                </a:solidFill>
                <a:latin typeface="Calibri"/>
                <a:ea typeface="Calibri"/>
                <a:cs typeface="Calibri"/>
                <a:sym typeface="Calibri"/>
              </a:rPr>
              <a:t>Spring Boot · Java 21</a:t>
            </a:r>
            <a:endParaRPr b="0" i="0" sz="10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18"/>
          <p:cNvSpPr/>
          <p:nvPr/>
        </p:nvSpPr>
        <p:spPr>
          <a:xfrm rot="-7960">
            <a:off x="454497" y="1794789"/>
            <a:ext cx="2332206" cy="887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5F9A"/>
              </a:buClr>
              <a:buSzPts val="1100"/>
              <a:buFont typeface="Calibri"/>
              <a:buChar char="●"/>
            </a:pPr>
            <a:r>
              <a:rPr lang="en-US" sz="1100">
                <a:solidFill>
                  <a:srgbClr val="0D5F9A"/>
                </a:solidFill>
                <a:latin typeface="Calibri"/>
                <a:ea typeface="Calibri"/>
                <a:cs typeface="Calibri"/>
                <a:sym typeface="Calibri"/>
              </a:rPr>
              <a:t>Gestion de l’inventaire</a:t>
            </a:r>
            <a:endParaRPr sz="1100">
              <a:solidFill>
                <a:srgbClr val="0D5F9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5F9A"/>
              </a:buClr>
              <a:buSzPts val="1100"/>
              <a:buFont typeface="Calibri"/>
              <a:buChar char="●"/>
            </a:pPr>
            <a:r>
              <a:rPr lang="en-US" sz="1100">
                <a:solidFill>
                  <a:srgbClr val="0D5F9A"/>
                </a:solidFill>
                <a:latin typeface="Calibri"/>
                <a:ea typeface="Calibri"/>
                <a:cs typeface="Calibri"/>
                <a:sym typeface="Calibri"/>
              </a:rPr>
              <a:t>Suivi de l’état</a:t>
            </a:r>
            <a:endParaRPr sz="1100">
              <a:solidFill>
                <a:srgbClr val="0D5F9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5F9A"/>
              </a:buClr>
              <a:buSzPts val="1100"/>
              <a:buFont typeface="Calibri"/>
              <a:buChar char="●"/>
            </a:pPr>
            <a:r>
              <a:rPr lang="en-US" sz="1100">
                <a:solidFill>
                  <a:srgbClr val="0D5F9A"/>
                </a:solidFill>
                <a:latin typeface="Calibri"/>
                <a:ea typeface="Calibri"/>
                <a:cs typeface="Calibri"/>
                <a:sym typeface="Calibri"/>
              </a:rPr>
              <a:t>Assignments</a:t>
            </a:r>
            <a:endParaRPr sz="1100">
              <a:solidFill>
                <a:srgbClr val="0D5F9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8"/>
          <p:cNvSpPr/>
          <p:nvPr/>
        </p:nvSpPr>
        <p:spPr>
          <a:xfrm>
            <a:off x="3240000" y="900000"/>
            <a:ext cx="2583000" cy="1919880"/>
          </a:xfrm>
          <a:prstGeom prst="rect">
            <a:avLst/>
          </a:prstGeom>
          <a:solidFill>
            <a:srgbClr val="FFFFFF"/>
          </a:solidFill>
          <a:ln cap="flat" cmpd="sng" w="12600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8"/>
          <p:cNvSpPr/>
          <p:nvPr/>
        </p:nvSpPr>
        <p:spPr>
          <a:xfrm>
            <a:off x="3240000" y="900000"/>
            <a:ext cx="2583000" cy="456840"/>
          </a:xfrm>
          <a:prstGeom prst="rect">
            <a:avLst/>
          </a:prstGeom>
          <a:solidFill>
            <a:srgbClr val="0D7A6A"/>
          </a:solidFill>
          <a:ln cap="flat" cmpd="sng" w="12600">
            <a:solidFill>
              <a:srgbClr val="0D7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18"/>
          <p:cNvSpPr/>
          <p:nvPr/>
        </p:nvSpPr>
        <p:spPr>
          <a:xfrm>
            <a:off x="3420000" y="960120"/>
            <a:ext cx="2285640" cy="36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Conducteurs</a:t>
            </a:r>
            <a:endParaRPr b="0" i="0" sz="14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18"/>
          <p:cNvSpPr/>
          <p:nvPr/>
        </p:nvSpPr>
        <p:spPr>
          <a:xfrm>
            <a:off x="3451320" y="1440000"/>
            <a:ext cx="248868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0D7A6A"/>
                </a:solidFill>
                <a:latin typeface="Calibri"/>
                <a:ea typeface="Calibri"/>
                <a:cs typeface="Calibri"/>
                <a:sym typeface="Calibri"/>
              </a:rPr>
              <a:t>Spring Boot · Java 21</a:t>
            </a:r>
            <a:endParaRPr b="0" i="0" sz="10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18"/>
          <p:cNvSpPr/>
          <p:nvPr/>
        </p:nvSpPr>
        <p:spPr>
          <a:xfrm>
            <a:off x="3451325" y="1774450"/>
            <a:ext cx="2096100" cy="89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7A6A"/>
              </a:buClr>
              <a:buSzPts val="1100"/>
              <a:buFont typeface="Calibri"/>
              <a:buChar char="●"/>
            </a:pPr>
            <a:r>
              <a:rPr lang="en-US" sz="1100">
                <a:solidFill>
                  <a:srgbClr val="0D7A6A"/>
                </a:solidFill>
                <a:latin typeface="Calibri"/>
                <a:ea typeface="Calibri"/>
                <a:cs typeface="Calibri"/>
                <a:sym typeface="Calibri"/>
              </a:rPr>
              <a:t>Profils conducteurs</a:t>
            </a:r>
            <a:endParaRPr sz="1100">
              <a:solidFill>
                <a:srgbClr val="0D7A6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7A6A"/>
              </a:buClr>
              <a:buSzPts val="1100"/>
              <a:buFont typeface="Calibri"/>
              <a:buChar char="●"/>
            </a:pPr>
            <a:r>
              <a:rPr lang="en-US" sz="1100">
                <a:solidFill>
                  <a:srgbClr val="0D7A6A"/>
                </a:solidFill>
                <a:latin typeface="Calibri"/>
                <a:ea typeface="Calibri"/>
                <a:cs typeface="Calibri"/>
                <a:sym typeface="Calibri"/>
              </a:rPr>
              <a:t>Gestion des permis</a:t>
            </a:r>
            <a:endParaRPr sz="1100">
              <a:solidFill>
                <a:srgbClr val="0D7A6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7A6A"/>
              </a:buClr>
              <a:buSzPts val="1100"/>
              <a:buFont typeface="Calibri"/>
              <a:buChar char="●"/>
            </a:pPr>
            <a:r>
              <a:rPr lang="en-US" sz="1100">
                <a:solidFill>
                  <a:srgbClr val="0D7A6A"/>
                </a:solidFill>
                <a:latin typeface="Calibri"/>
                <a:ea typeface="Calibri"/>
                <a:cs typeface="Calibri"/>
                <a:sym typeface="Calibri"/>
              </a:rPr>
              <a:t>Disponibilité</a:t>
            </a:r>
            <a:endParaRPr sz="1100">
              <a:solidFill>
                <a:srgbClr val="0D7A6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8"/>
          <p:cNvSpPr/>
          <p:nvPr/>
        </p:nvSpPr>
        <p:spPr>
          <a:xfrm>
            <a:off x="6194160" y="900000"/>
            <a:ext cx="2700000" cy="1919880"/>
          </a:xfrm>
          <a:prstGeom prst="rect">
            <a:avLst/>
          </a:prstGeom>
          <a:solidFill>
            <a:srgbClr val="FFFFFF"/>
          </a:solidFill>
          <a:ln cap="flat" cmpd="sng" w="12600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18"/>
          <p:cNvSpPr/>
          <p:nvPr/>
        </p:nvSpPr>
        <p:spPr>
          <a:xfrm>
            <a:off x="6194160" y="900000"/>
            <a:ext cx="2700000" cy="456840"/>
          </a:xfrm>
          <a:prstGeom prst="rect">
            <a:avLst/>
          </a:prstGeom>
          <a:solidFill>
            <a:srgbClr val="7A4D0D"/>
          </a:solidFill>
          <a:ln cap="flat" cmpd="sng" w="12600">
            <a:solidFill>
              <a:srgbClr val="7A4D0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18"/>
          <p:cNvSpPr/>
          <p:nvPr/>
        </p:nvSpPr>
        <p:spPr>
          <a:xfrm>
            <a:off x="6331320" y="945720"/>
            <a:ext cx="2285640" cy="36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Maintenance</a:t>
            </a:r>
            <a:endParaRPr b="0" i="0" sz="14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18"/>
          <p:cNvSpPr/>
          <p:nvPr/>
        </p:nvSpPr>
        <p:spPr>
          <a:xfrm>
            <a:off x="6331320" y="1430280"/>
            <a:ext cx="374868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7A4D0D"/>
                </a:solidFill>
                <a:latin typeface="Calibri"/>
                <a:ea typeface="Calibri"/>
                <a:cs typeface="Calibri"/>
                <a:sym typeface="Calibri"/>
              </a:rPr>
              <a:t>Spring Boot · Java 21</a:t>
            </a:r>
            <a:endParaRPr b="0" i="0" sz="10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18"/>
          <p:cNvSpPr/>
          <p:nvPr/>
        </p:nvSpPr>
        <p:spPr>
          <a:xfrm>
            <a:off x="6331325" y="1768675"/>
            <a:ext cx="2263800" cy="89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4D0D"/>
              </a:buClr>
              <a:buSzPts val="1100"/>
              <a:buFont typeface="Calibri"/>
              <a:buChar char="●"/>
            </a:pPr>
            <a:r>
              <a:rPr lang="en-US" sz="1100">
                <a:solidFill>
                  <a:srgbClr val="7A4D0D"/>
                </a:solidFill>
                <a:latin typeface="Calibri"/>
                <a:ea typeface="Calibri"/>
                <a:cs typeface="Calibri"/>
                <a:sym typeface="Calibri"/>
              </a:rPr>
              <a:t>Historique d’entretien</a:t>
            </a:r>
            <a:endParaRPr sz="1100">
              <a:solidFill>
                <a:srgbClr val="7A4D0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4D0D"/>
              </a:buClr>
              <a:buSzPts val="1100"/>
              <a:buFont typeface="Calibri"/>
              <a:buChar char="●"/>
            </a:pPr>
            <a:r>
              <a:rPr lang="en-US" sz="1100">
                <a:solidFill>
                  <a:srgbClr val="7A4D0D"/>
                </a:solidFill>
                <a:latin typeface="Calibri"/>
                <a:ea typeface="Calibri"/>
                <a:cs typeface="Calibri"/>
                <a:sym typeface="Calibri"/>
              </a:rPr>
              <a:t>Planification</a:t>
            </a:r>
            <a:endParaRPr sz="1100">
              <a:solidFill>
                <a:srgbClr val="7A4D0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4D0D"/>
              </a:buClr>
              <a:buSzPts val="1100"/>
              <a:buFont typeface="Calibri"/>
              <a:buChar char="●"/>
            </a:pPr>
            <a:r>
              <a:rPr lang="en-US" sz="1100">
                <a:solidFill>
                  <a:srgbClr val="7A4D0D"/>
                </a:solidFill>
                <a:latin typeface="Calibri"/>
                <a:ea typeface="Calibri"/>
                <a:cs typeface="Calibri"/>
                <a:sym typeface="Calibri"/>
              </a:rPr>
              <a:t>Suivi de l’intervention</a:t>
            </a:r>
            <a:endParaRPr sz="1100">
              <a:solidFill>
                <a:srgbClr val="7A4D0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8"/>
          <p:cNvSpPr/>
          <p:nvPr/>
        </p:nvSpPr>
        <p:spPr>
          <a:xfrm>
            <a:off x="4709160" y="2971800"/>
            <a:ext cx="4023000" cy="1919880"/>
          </a:xfrm>
          <a:prstGeom prst="rect">
            <a:avLst/>
          </a:prstGeom>
          <a:solidFill>
            <a:srgbClr val="FFFFFF"/>
          </a:solidFill>
          <a:ln cap="flat" cmpd="sng" w="12600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8"/>
          <p:cNvSpPr/>
          <p:nvPr/>
        </p:nvSpPr>
        <p:spPr>
          <a:xfrm>
            <a:off x="4709160" y="2971800"/>
            <a:ext cx="4023000" cy="456840"/>
          </a:xfrm>
          <a:prstGeom prst="rect">
            <a:avLst/>
          </a:prstGeom>
          <a:solidFill>
            <a:srgbClr val="6A0D7A"/>
          </a:solidFill>
          <a:ln cap="flat" cmpd="sng" w="12600">
            <a:solidFill>
              <a:srgbClr val="6A0D7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8"/>
          <p:cNvSpPr/>
          <p:nvPr/>
        </p:nvSpPr>
        <p:spPr>
          <a:xfrm>
            <a:off x="4846320" y="3017520"/>
            <a:ext cx="2285640" cy="36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Localisation</a:t>
            </a:r>
            <a:endParaRPr b="0" i="0" sz="14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18"/>
          <p:cNvSpPr/>
          <p:nvPr/>
        </p:nvSpPr>
        <p:spPr>
          <a:xfrm>
            <a:off x="4846320" y="3502080"/>
            <a:ext cx="374868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A0D7A"/>
                </a:solidFill>
                <a:latin typeface="Calibri"/>
                <a:ea typeface="Calibri"/>
                <a:cs typeface="Calibri"/>
                <a:sym typeface="Calibri"/>
              </a:rPr>
              <a:t>gRPC · NestJS · TimescaleDB</a:t>
            </a:r>
            <a:endParaRPr b="0" i="0" sz="10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18"/>
          <p:cNvSpPr/>
          <p:nvPr/>
        </p:nvSpPr>
        <p:spPr>
          <a:xfrm>
            <a:off x="4846325" y="3840465"/>
            <a:ext cx="3748800" cy="91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A0D7A"/>
              </a:buClr>
              <a:buSzPts val="1100"/>
              <a:buFont typeface="Arial"/>
              <a:buChar char="●"/>
            </a:pPr>
            <a:r>
              <a:rPr lang="en-US" sz="1100">
                <a:solidFill>
                  <a:srgbClr val="6A0D7A"/>
                </a:solidFill>
                <a:latin typeface="Calibri"/>
                <a:ea typeface="Calibri"/>
                <a:cs typeface="Calibri"/>
                <a:sym typeface="Calibri"/>
              </a:rPr>
              <a:t>Ingestion GPS en temps réel</a:t>
            </a:r>
            <a:endParaRPr sz="1100">
              <a:solidFill>
                <a:srgbClr val="6A0D7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6A0D7A"/>
              </a:buClr>
              <a:buSzPts val="1100"/>
              <a:buFont typeface="Calibri"/>
              <a:buChar char="●"/>
            </a:pPr>
            <a:r>
              <a:rPr lang="en-US" sz="1100">
                <a:solidFill>
                  <a:srgbClr val="6A0D7A"/>
                </a:solidFill>
                <a:latin typeface="Calibri"/>
                <a:ea typeface="Calibri"/>
                <a:cs typeface="Calibri"/>
                <a:sym typeface="Calibri"/>
              </a:rPr>
              <a:t>Streaming vers les clients</a:t>
            </a:r>
            <a:endParaRPr sz="1100">
              <a:solidFill>
                <a:srgbClr val="6A0D7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6A0D7A"/>
              </a:buClr>
              <a:buSzPts val="1100"/>
              <a:buFont typeface="Calibri"/>
              <a:buChar char="●"/>
            </a:pPr>
            <a:r>
              <a:rPr lang="en-US" sz="1100">
                <a:solidFill>
                  <a:srgbClr val="6A0D7A"/>
                </a:solidFill>
                <a:latin typeface="Calibri"/>
                <a:ea typeface="Calibri"/>
                <a:cs typeface="Calibri"/>
                <a:sym typeface="Calibri"/>
              </a:rPr>
              <a:t>Détection d’anomalies</a:t>
            </a:r>
            <a:endParaRPr sz="1100">
              <a:solidFill>
                <a:srgbClr val="6A0D7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100">
              <a:solidFill>
                <a:srgbClr val="6A0D7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8"/>
          <p:cNvSpPr/>
          <p:nvPr/>
        </p:nvSpPr>
        <p:spPr>
          <a:xfrm>
            <a:off x="360000" y="2963160"/>
            <a:ext cx="4023000" cy="1919880"/>
          </a:xfrm>
          <a:prstGeom prst="rect">
            <a:avLst/>
          </a:prstGeom>
          <a:solidFill>
            <a:srgbClr val="FFFFFF"/>
          </a:solidFill>
          <a:ln cap="flat" cmpd="sng" w="12600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18"/>
          <p:cNvSpPr/>
          <p:nvPr/>
        </p:nvSpPr>
        <p:spPr>
          <a:xfrm>
            <a:off x="360000" y="2963160"/>
            <a:ext cx="4023000" cy="456840"/>
          </a:xfrm>
          <a:prstGeom prst="rect">
            <a:avLst/>
          </a:prstGeom>
          <a:solidFill>
            <a:srgbClr val="A7074B"/>
          </a:solidFill>
          <a:ln cap="flat" cmpd="sng" w="12600">
            <a:solidFill>
              <a:srgbClr val="A7074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8"/>
          <p:cNvSpPr txBox="1"/>
          <p:nvPr/>
        </p:nvSpPr>
        <p:spPr>
          <a:xfrm>
            <a:off x="184320" y="3025080"/>
            <a:ext cx="1795680" cy="394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Événements</a:t>
            </a:r>
            <a:endParaRPr b="0" i="0" sz="140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18"/>
          <p:cNvSpPr txBox="1"/>
          <p:nvPr/>
        </p:nvSpPr>
        <p:spPr>
          <a:xfrm>
            <a:off x="514800" y="3516840"/>
            <a:ext cx="1465200" cy="263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8D1D75"/>
                </a:solidFill>
                <a:latin typeface="Calibri"/>
                <a:ea typeface="Calibri"/>
                <a:cs typeface="Calibri"/>
                <a:sym typeface="Calibri"/>
              </a:rPr>
              <a:t>Spring Boot · Java 21</a:t>
            </a:r>
            <a:endParaRPr b="0" sz="1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18"/>
          <p:cNvSpPr txBox="1"/>
          <p:nvPr/>
        </p:nvSpPr>
        <p:spPr>
          <a:xfrm>
            <a:off x="540000" y="3858850"/>
            <a:ext cx="3666000" cy="89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-29845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8D1D75"/>
              </a:buClr>
              <a:buSzPts val="1100"/>
              <a:buFont typeface="Calibri"/>
              <a:buChar char="●"/>
            </a:pPr>
            <a:r>
              <a:rPr lang="en-US" sz="1100">
                <a:solidFill>
                  <a:srgbClr val="8D1D75"/>
                </a:solidFill>
                <a:latin typeface="Calibri"/>
                <a:ea typeface="Calibri"/>
                <a:cs typeface="Calibri"/>
                <a:sym typeface="Calibri"/>
              </a:rPr>
              <a:t>Consommation Kafka</a:t>
            </a:r>
            <a:endParaRPr sz="1100">
              <a:solidFill>
                <a:srgbClr val="8D1D75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845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8D1D75"/>
              </a:buClr>
              <a:buSzPts val="1100"/>
              <a:buFont typeface="Calibri"/>
              <a:buChar char="●"/>
            </a:pPr>
            <a:r>
              <a:rPr lang="en-US" sz="1100">
                <a:solidFill>
                  <a:srgbClr val="8D1D75"/>
                </a:solidFill>
                <a:latin typeface="Calibri"/>
                <a:ea typeface="Calibri"/>
                <a:cs typeface="Calibri"/>
                <a:sym typeface="Calibri"/>
              </a:rPr>
              <a:t>Génération d’Alertes</a:t>
            </a:r>
            <a:endParaRPr sz="1100">
              <a:solidFill>
                <a:srgbClr val="8D1D75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845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8D1D75"/>
              </a:buClr>
              <a:buSzPts val="1100"/>
              <a:buFont typeface="Calibri"/>
              <a:buChar char="●"/>
            </a:pPr>
            <a:r>
              <a:rPr lang="en-US" sz="1100">
                <a:solidFill>
                  <a:srgbClr val="8D1D75"/>
                </a:solidFill>
                <a:latin typeface="Calibri"/>
                <a:ea typeface="Calibri"/>
                <a:cs typeface="Calibri"/>
                <a:sym typeface="Calibri"/>
              </a:rPr>
              <a:t>Notifications Temps Réel</a:t>
            </a:r>
            <a:endParaRPr sz="1100">
              <a:solidFill>
                <a:srgbClr val="8D1D7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9"/>
          <p:cNvSpPr/>
          <p:nvPr/>
        </p:nvSpPr>
        <p:spPr>
          <a:xfrm>
            <a:off x="0" y="0"/>
            <a:ext cx="9143700" cy="777000"/>
          </a:xfrm>
          <a:prstGeom prst="rect">
            <a:avLst/>
          </a:prstGeom>
          <a:solidFill>
            <a:srgbClr val="0A1628"/>
          </a:solidFill>
          <a:ln cap="flat" cmpd="sng" w="12600">
            <a:solidFill>
              <a:srgbClr val="0A16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19"/>
          <p:cNvSpPr/>
          <p:nvPr/>
        </p:nvSpPr>
        <p:spPr>
          <a:xfrm>
            <a:off x="365760" y="0"/>
            <a:ext cx="8229300" cy="777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Environnements</a:t>
            </a:r>
            <a:endParaRPr b="1" sz="22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9"/>
          <p:cNvSpPr/>
          <p:nvPr/>
        </p:nvSpPr>
        <p:spPr>
          <a:xfrm>
            <a:off x="365760" y="914400"/>
            <a:ext cx="8229300" cy="365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E8A020"/>
                </a:solidFill>
                <a:latin typeface="Calibri"/>
                <a:ea typeface="Calibri"/>
                <a:cs typeface="Calibri"/>
                <a:sym typeface="Calibri"/>
              </a:rPr>
              <a:t>Déploiement &amp; Orchestration</a:t>
            </a:r>
            <a:endParaRPr b="1" sz="1400">
              <a:solidFill>
                <a:srgbClr val="E8A02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83" name="Google Shape;183;p19"/>
          <p:cNvGrpSpPr/>
          <p:nvPr/>
        </p:nvGrpSpPr>
        <p:grpSpPr>
          <a:xfrm>
            <a:off x="365760" y="2000250"/>
            <a:ext cx="1524000" cy="1714500"/>
            <a:chOff x="365760" y="2000250"/>
            <a:chExt cx="1524000" cy="1714500"/>
          </a:xfrm>
        </p:grpSpPr>
        <p:sp>
          <p:nvSpPr>
            <p:cNvPr id="184" name="Google Shape;184;p19"/>
            <p:cNvSpPr/>
            <p:nvPr/>
          </p:nvSpPr>
          <p:spPr>
            <a:xfrm>
              <a:off x="365760" y="2000250"/>
              <a:ext cx="1524000" cy="1714500"/>
            </a:xfrm>
            <a:prstGeom prst="roundRect">
              <a:avLst>
                <a:gd fmla="val 2500" name="adj"/>
              </a:avLst>
            </a:prstGeom>
            <a:solidFill>
              <a:srgbClr val="FFFFFF"/>
            </a:solidFill>
            <a:ln cap="flat" cmpd="sng" w="9525">
              <a:solidFill>
                <a:srgbClr val="D0D8E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" name="Google Shape;185;p19"/>
            <p:cNvSpPr/>
            <p:nvPr/>
          </p:nvSpPr>
          <p:spPr>
            <a:xfrm>
              <a:off x="365760" y="2000250"/>
              <a:ext cx="1524000" cy="381000"/>
            </a:xfrm>
            <a:prstGeom prst="roundRect">
              <a:avLst>
                <a:gd fmla="val 10000" name="adj"/>
              </a:avLst>
            </a:prstGeom>
            <a:solidFill>
              <a:srgbClr val="0D5F9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6" name="Google Shape;186;p19"/>
            <p:cNvSpPr txBox="1"/>
            <p:nvPr/>
          </p:nvSpPr>
          <p:spPr>
            <a:xfrm>
              <a:off x="365760" y="2000250"/>
              <a:ext cx="1524000" cy="381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Docker</a:t>
              </a:r>
              <a:endParaRPr b="1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7" name="Google Shape;187;p19"/>
            <p:cNvSpPr txBox="1"/>
            <p:nvPr/>
          </p:nvSpPr>
          <p:spPr>
            <a:xfrm>
              <a:off x="461010" y="2428875"/>
              <a:ext cx="1333500" cy="1238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000">
                  <a:solidFill>
                    <a:srgbClr val="0D5F9A"/>
                  </a:solidFill>
                  <a:latin typeface="Calibri"/>
                  <a:ea typeface="Calibri"/>
                  <a:cs typeface="Calibri"/>
                  <a:sym typeface="Calibri"/>
                </a:rPr>
                <a:t>Développement Local</a:t>
              </a:r>
              <a:endParaRPr b="1" sz="1000">
                <a:solidFill>
                  <a:srgbClr val="0D5F9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ctr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1000">
                  <a:solidFill>
                    <a:srgbClr val="0A1628"/>
                  </a:solidFill>
                  <a:latin typeface="Calibri"/>
                  <a:ea typeface="Calibri"/>
                  <a:cs typeface="Calibri"/>
                  <a:sym typeface="Calibri"/>
                </a:rPr>
                <a:t>Docker Compose</a:t>
              </a:r>
              <a:endParaRPr b="0" sz="1000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ctr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US" sz="1000">
                  <a:solidFill>
                    <a:srgbClr val="0A1628"/>
                  </a:solidFill>
                  <a:latin typeface="Calibri"/>
                  <a:ea typeface="Calibri"/>
                  <a:cs typeface="Calibri"/>
                  <a:sym typeface="Calibri"/>
                </a:rPr>
                <a:t>Conteneurisation des services</a:t>
              </a:r>
              <a:endParaRPr b="0" sz="1000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8" name="Google Shape;188;p19"/>
          <p:cNvGrpSpPr/>
          <p:nvPr/>
        </p:nvGrpSpPr>
        <p:grpSpPr>
          <a:xfrm>
            <a:off x="2095500" y="2000250"/>
            <a:ext cx="1524000" cy="1714500"/>
            <a:chOff x="2095500" y="2000250"/>
            <a:chExt cx="1524000" cy="1714500"/>
          </a:xfrm>
        </p:grpSpPr>
        <p:sp>
          <p:nvSpPr>
            <p:cNvPr id="189" name="Google Shape;189;p19"/>
            <p:cNvSpPr/>
            <p:nvPr/>
          </p:nvSpPr>
          <p:spPr>
            <a:xfrm>
              <a:off x="2095500" y="2000250"/>
              <a:ext cx="1524000" cy="1714500"/>
            </a:xfrm>
            <a:prstGeom prst="roundRect">
              <a:avLst>
                <a:gd fmla="val 2500" name="adj"/>
              </a:avLst>
            </a:prstGeom>
            <a:solidFill>
              <a:srgbClr val="FFFFFF"/>
            </a:solidFill>
            <a:ln cap="flat" cmpd="sng" w="9525">
              <a:solidFill>
                <a:srgbClr val="D0D8E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" name="Google Shape;190;p19"/>
            <p:cNvSpPr/>
            <p:nvPr/>
          </p:nvSpPr>
          <p:spPr>
            <a:xfrm>
              <a:off x="2095500" y="2000250"/>
              <a:ext cx="1524000" cy="381000"/>
            </a:xfrm>
            <a:prstGeom prst="roundRect">
              <a:avLst>
                <a:gd fmla="val 10000" name="adj"/>
              </a:avLst>
            </a:prstGeom>
            <a:solidFill>
              <a:srgbClr val="0D7A6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" name="Google Shape;191;p19"/>
            <p:cNvSpPr txBox="1"/>
            <p:nvPr/>
          </p:nvSpPr>
          <p:spPr>
            <a:xfrm>
              <a:off x="2095500" y="2000250"/>
              <a:ext cx="1524000" cy="381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Namespaces</a:t>
              </a:r>
              <a:endParaRPr b="1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2" name="Google Shape;192;p19"/>
            <p:cNvSpPr txBox="1"/>
            <p:nvPr/>
          </p:nvSpPr>
          <p:spPr>
            <a:xfrm>
              <a:off x="2190750" y="2428875"/>
              <a:ext cx="1333500" cy="1238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000">
                  <a:solidFill>
                    <a:srgbClr val="0D7A6A"/>
                  </a:solidFill>
                  <a:latin typeface="Calibri"/>
                  <a:ea typeface="Calibri"/>
                  <a:cs typeface="Calibri"/>
                  <a:sym typeface="Calibri"/>
                </a:rPr>
                <a:t>Isolation</a:t>
              </a:r>
              <a:endParaRPr b="1" sz="1000">
                <a:solidFill>
                  <a:srgbClr val="0D7A6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ctr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1000">
                  <a:solidFill>
                    <a:srgbClr val="0A1628"/>
                  </a:solidFill>
                  <a:latin typeface="Calibri"/>
                  <a:ea typeface="Calibri"/>
                  <a:cs typeface="Calibri"/>
                  <a:sym typeface="Calibri"/>
                </a:rPr>
                <a:t>dev · staging · prod</a:t>
              </a:r>
              <a:endParaRPr b="0" sz="1000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ctr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US" sz="1000">
                  <a:solidFill>
                    <a:srgbClr val="0A1628"/>
                  </a:solidFill>
                  <a:latin typeface="Calibri"/>
                  <a:ea typeface="Calibri"/>
                  <a:cs typeface="Calibri"/>
                  <a:sym typeface="Calibri"/>
                </a:rPr>
                <a:t>Quota de ressources</a:t>
              </a:r>
              <a:endParaRPr b="0" sz="1000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3" name="Google Shape;193;p19"/>
          <p:cNvGrpSpPr/>
          <p:nvPr/>
        </p:nvGrpSpPr>
        <p:grpSpPr>
          <a:xfrm>
            <a:off x="3825240" y="2000250"/>
            <a:ext cx="1524000" cy="1714500"/>
            <a:chOff x="3825240" y="2000250"/>
            <a:chExt cx="1524000" cy="1714500"/>
          </a:xfrm>
        </p:grpSpPr>
        <p:sp>
          <p:nvSpPr>
            <p:cNvPr id="194" name="Google Shape;194;p19"/>
            <p:cNvSpPr/>
            <p:nvPr/>
          </p:nvSpPr>
          <p:spPr>
            <a:xfrm>
              <a:off x="3825240" y="2000250"/>
              <a:ext cx="1524000" cy="1714500"/>
            </a:xfrm>
            <a:prstGeom prst="roundRect">
              <a:avLst>
                <a:gd fmla="val 2500" name="adj"/>
              </a:avLst>
            </a:prstGeom>
            <a:solidFill>
              <a:srgbClr val="FFFFFF"/>
            </a:solidFill>
            <a:ln cap="flat" cmpd="sng" w="9525">
              <a:solidFill>
                <a:srgbClr val="D0D8E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5" name="Google Shape;195;p19"/>
            <p:cNvSpPr/>
            <p:nvPr/>
          </p:nvSpPr>
          <p:spPr>
            <a:xfrm>
              <a:off x="3825240" y="2000250"/>
              <a:ext cx="1524000" cy="381000"/>
            </a:xfrm>
            <a:prstGeom prst="roundRect">
              <a:avLst>
                <a:gd fmla="val 10000" name="adj"/>
              </a:avLst>
            </a:prstGeom>
            <a:solidFill>
              <a:srgbClr val="7A4D0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6" name="Google Shape;196;p19"/>
            <p:cNvSpPr txBox="1"/>
            <p:nvPr/>
          </p:nvSpPr>
          <p:spPr>
            <a:xfrm>
              <a:off x="3825240" y="2000250"/>
              <a:ext cx="1524000" cy="381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Helm Charts</a:t>
              </a:r>
              <a:endParaRPr b="1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7" name="Google Shape;197;p19"/>
            <p:cNvSpPr txBox="1"/>
            <p:nvPr/>
          </p:nvSpPr>
          <p:spPr>
            <a:xfrm>
              <a:off x="3920490" y="2428875"/>
              <a:ext cx="1333500" cy="1238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000">
                  <a:solidFill>
                    <a:srgbClr val="7A4D0D"/>
                  </a:solidFill>
                  <a:latin typeface="Calibri"/>
                  <a:ea typeface="Calibri"/>
                  <a:cs typeface="Calibri"/>
                  <a:sym typeface="Calibri"/>
                </a:rPr>
                <a:t>Packaging</a:t>
              </a:r>
              <a:endParaRPr b="1" sz="1000">
                <a:solidFill>
                  <a:srgbClr val="7A4D0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ctr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1000">
                  <a:solidFill>
                    <a:srgbClr val="0A1628"/>
                  </a:solidFill>
                  <a:latin typeface="Calibri"/>
                  <a:ea typeface="Calibri"/>
                  <a:cs typeface="Calibri"/>
                  <a:sym typeface="Calibri"/>
                </a:rPr>
                <a:t>Versionning</a:t>
              </a:r>
              <a:endParaRPr b="0" sz="1000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ctr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US" sz="1000">
                  <a:solidFill>
                    <a:srgbClr val="0A1628"/>
                  </a:solidFill>
                  <a:latin typeface="Calibri"/>
                  <a:ea typeface="Calibri"/>
                  <a:cs typeface="Calibri"/>
                  <a:sym typeface="Calibri"/>
                </a:rPr>
                <a:t>Rollback automatique</a:t>
              </a:r>
              <a:endParaRPr b="0" sz="1000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8" name="Google Shape;198;p19"/>
          <p:cNvGrpSpPr/>
          <p:nvPr/>
        </p:nvGrpSpPr>
        <p:grpSpPr>
          <a:xfrm>
            <a:off x="5554980" y="2000250"/>
            <a:ext cx="1524000" cy="1714500"/>
            <a:chOff x="5554980" y="2000250"/>
            <a:chExt cx="1524000" cy="1714500"/>
          </a:xfrm>
        </p:grpSpPr>
        <p:sp>
          <p:nvSpPr>
            <p:cNvPr id="199" name="Google Shape;199;p19"/>
            <p:cNvSpPr/>
            <p:nvPr/>
          </p:nvSpPr>
          <p:spPr>
            <a:xfrm>
              <a:off x="5554980" y="2000250"/>
              <a:ext cx="1524000" cy="1714500"/>
            </a:xfrm>
            <a:prstGeom prst="roundRect">
              <a:avLst>
                <a:gd fmla="val 2500" name="adj"/>
              </a:avLst>
            </a:prstGeom>
            <a:solidFill>
              <a:srgbClr val="FFFFFF"/>
            </a:solidFill>
            <a:ln cap="flat" cmpd="sng" w="9525">
              <a:solidFill>
                <a:srgbClr val="D0D8E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" name="Google Shape;200;p19"/>
            <p:cNvSpPr/>
            <p:nvPr/>
          </p:nvSpPr>
          <p:spPr>
            <a:xfrm>
              <a:off x="5554980" y="2000250"/>
              <a:ext cx="1524000" cy="381000"/>
            </a:xfrm>
            <a:prstGeom prst="roundRect">
              <a:avLst>
                <a:gd fmla="val 10000" name="adj"/>
              </a:avLst>
            </a:prstGeom>
            <a:solidFill>
              <a:srgbClr val="6A0D7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1" name="Google Shape;201;p19"/>
            <p:cNvSpPr txBox="1"/>
            <p:nvPr/>
          </p:nvSpPr>
          <p:spPr>
            <a:xfrm>
              <a:off x="5554980" y="2000250"/>
              <a:ext cx="1524000" cy="381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ConfigMaps &amp; Secrets</a:t>
              </a:r>
              <a:endParaRPr b="1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2" name="Google Shape;202;p19"/>
            <p:cNvSpPr txBox="1"/>
            <p:nvPr/>
          </p:nvSpPr>
          <p:spPr>
            <a:xfrm>
              <a:off x="5650230" y="2428875"/>
              <a:ext cx="1333500" cy="1238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000">
                  <a:solidFill>
                    <a:srgbClr val="6A0D7A"/>
                  </a:solidFill>
                  <a:latin typeface="Calibri"/>
                  <a:ea typeface="Calibri"/>
                  <a:cs typeface="Calibri"/>
                  <a:sym typeface="Calibri"/>
                </a:rPr>
                <a:t>Configuration</a:t>
              </a:r>
              <a:endParaRPr b="1" sz="1000">
                <a:solidFill>
                  <a:srgbClr val="6A0D7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ctr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1000">
                  <a:solidFill>
                    <a:srgbClr val="0A1628"/>
                  </a:solidFill>
                  <a:latin typeface="Calibri"/>
                  <a:ea typeface="Calibri"/>
                  <a:cs typeface="Calibri"/>
                  <a:sym typeface="Calibri"/>
                </a:rPr>
                <a:t>Externalisation</a:t>
              </a:r>
              <a:endParaRPr b="0" sz="1000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ctr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US" sz="1000">
                  <a:solidFill>
                    <a:srgbClr val="0A1628"/>
                  </a:solidFill>
                  <a:latin typeface="Calibri"/>
                  <a:ea typeface="Calibri"/>
                  <a:cs typeface="Calibri"/>
                  <a:sym typeface="Calibri"/>
                </a:rPr>
                <a:t>Secrets chiffrés (SOPS)</a:t>
              </a:r>
              <a:endParaRPr b="0" sz="1000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3" name="Google Shape;203;p19"/>
          <p:cNvGrpSpPr/>
          <p:nvPr/>
        </p:nvGrpSpPr>
        <p:grpSpPr>
          <a:xfrm>
            <a:off x="7284720" y="2000250"/>
            <a:ext cx="1524000" cy="1714500"/>
            <a:chOff x="7284720" y="2000250"/>
            <a:chExt cx="1524000" cy="1714500"/>
          </a:xfrm>
        </p:grpSpPr>
        <p:sp>
          <p:nvSpPr>
            <p:cNvPr id="204" name="Google Shape;204;p19"/>
            <p:cNvSpPr/>
            <p:nvPr/>
          </p:nvSpPr>
          <p:spPr>
            <a:xfrm>
              <a:off x="7284720" y="2000250"/>
              <a:ext cx="1524000" cy="1714500"/>
            </a:xfrm>
            <a:prstGeom prst="roundRect">
              <a:avLst>
                <a:gd fmla="val 2500" name="adj"/>
              </a:avLst>
            </a:prstGeom>
            <a:solidFill>
              <a:srgbClr val="FFFFFF"/>
            </a:solidFill>
            <a:ln cap="flat" cmpd="sng" w="9525">
              <a:solidFill>
                <a:srgbClr val="D0D8E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5" name="Google Shape;205;p19"/>
            <p:cNvSpPr/>
            <p:nvPr/>
          </p:nvSpPr>
          <p:spPr>
            <a:xfrm>
              <a:off x="7284720" y="2000250"/>
              <a:ext cx="1524000" cy="381000"/>
            </a:xfrm>
            <a:prstGeom prst="roundRect">
              <a:avLst>
                <a:gd fmla="val 10000" name="adj"/>
              </a:avLst>
            </a:prstGeom>
            <a:solidFill>
              <a:srgbClr val="A7074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" name="Google Shape;206;p19"/>
            <p:cNvSpPr txBox="1"/>
            <p:nvPr/>
          </p:nvSpPr>
          <p:spPr>
            <a:xfrm>
              <a:off x="7284720" y="2000250"/>
              <a:ext cx="1524000" cy="381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Ingress</a:t>
              </a:r>
              <a:endParaRPr b="1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7" name="Google Shape;207;p19"/>
            <p:cNvSpPr txBox="1"/>
            <p:nvPr/>
          </p:nvSpPr>
          <p:spPr>
            <a:xfrm>
              <a:off x="7379970" y="2428875"/>
              <a:ext cx="1333500" cy="1238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000">
                  <a:solidFill>
                    <a:srgbClr val="A7074B"/>
                  </a:solidFill>
                  <a:latin typeface="Calibri"/>
                  <a:ea typeface="Calibri"/>
                  <a:cs typeface="Calibri"/>
                  <a:sym typeface="Calibri"/>
                </a:rPr>
                <a:t>Exposition</a:t>
              </a:r>
              <a:endParaRPr b="1" sz="1000">
                <a:solidFill>
                  <a:srgbClr val="A7074B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ctr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1000">
                  <a:solidFill>
                    <a:srgbClr val="0A1628"/>
                  </a:solidFill>
                  <a:latin typeface="Calibri"/>
                  <a:ea typeface="Calibri"/>
                  <a:cs typeface="Calibri"/>
                  <a:sym typeface="Calibri"/>
                </a:rPr>
                <a:t>Routing HTTP</a:t>
              </a:r>
              <a:endParaRPr b="0" sz="1000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ctr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US" sz="1000">
                  <a:solidFill>
                    <a:srgbClr val="0A1628"/>
                  </a:solidFill>
                  <a:latin typeface="Calibri"/>
                  <a:ea typeface="Calibri"/>
                  <a:cs typeface="Calibri"/>
                  <a:sym typeface="Calibri"/>
                </a:rPr>
                <a:t>TLS &amp; Load Balancing</a:t>
              </a:r>
              <a:endParaRPr b="0" sz="1000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08" name="Google Shape;208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0"/>
          <p:cNvSpPr/>
          <p:nvPr/>
        </p:nvSpPr>
        <p:spPr>
          <a:xfrm>
            <a:off x="0" y="0"/>
            <a:ext cx="9143700" cy="777000"/>
          </a:xfrm>
          <a:prstGeom prst="rect">
            <a:avLst/>
          </a:prstGeom>
          <a:solidFill>
            <a:srgbClr val="0A1628"/>
          </a:solidFill>
          <a:ln cap="flat" cmpd="sng" w="12600">
            <a:solidFill>
              <a:srgbClr val="0A16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20"/>
          <p:cNvSpPr/>
          <p:nvPr/>
        </p:nvSpPr>
        <p:spPr>
          <a:xfrm>
            <a:off x="365760" y="0"/>
            <a:ext cx="8229300" cy="777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Pipeline CI/CD — GitHub Actions</a:t>
            </a:r>
            <a:endParaRPr b="1" sz="24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6" name="Google Shape;216;p20"/>
          <p:cNvGrpSpPr/>
          <p:nvPr/>
        </p:nvGrpSpPr>
        <p:grpSpPr>
          <a:xfrm>
            <a:off x="365760" y="919163"/>
            <a:ext cx="8412480" cy="3952800"/>
            <a:chOff x="365760" y="919163"/>
            <a:chExt cx="8412480" cy="3952800"/>
          </a:xfrm>
        </p:grpSpPr>
        <p:sp>
          <p:nvSpPr>
            <p:cNvPr id="217" name="Google Shape;217;p20"/>
            <p:cNvSpPr/>
            <p:nvPr/>
          </p:nvSpPr>
          <p:spPr>
            <a:xfrm>
              <a:off x="365760" y="919163"/>
              <a:ext cx="2476500" cy="1285800"/>
            </a:xfrm>
            <a:prstGeom prst="roundRect">
              <a:avLst>
                <a:gd fmla="val 5925" name="adj"/>
              </a:avLst>
            </a:prstGeom>
            <a:solidFill>
              <a:srgbClr val="FFFFFF"/>
            </a:solidFill>
            <a:ln cap="flat" cmpd="sng" w="9525">
              <a:solidFill>
                <a:srgbClr val="D0D8E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8" name="Google Shape;218;p20"/>
            <p:cNvSpPr/>
            <p:nvPr/>
          </p:nvSpPr>
          <p:spPr>
            <a:xfrm>
              <a:off x="365760" y="919163"/>
              <a:ext cx="2476500" cy="333300"/>
            </a:xfrm>
            <a:prstGeom prst="roundRect">
              <a:avLst>
                <a:gd fmla="val 22857" name="adj"/>
              </a:avLst>
            </a:prstGeom>
            <a:solidFill>
              <a:srgbClr val="0D5F9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9" name="Google Shape;219;p20"/>
            <p:cNvSpPr txBox="1"/>
            <p:nvPr/>
          </p:nvSpPr>
          <p:spPr>
            <a:xfrm>
              <a:off x="365760" y="919163"/>
              <a:ext cx="2476500" cy="333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1. Tests Services Java</a:t>
              </a:r>
              <a:endParaRPr b="1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" name="Google Shape;220;p20"/>
            <p:cNvSpPr txBox="1"/>
            <p:nvPr/>
          </p:nvSpPr>
          <p:spPr>
            <a:xfrm>
              <a:off x="461010" y="1300163"/>
              <a:ext cx="2286000" cy="857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900">
                  <a:solidFill>
                    <a:srgbClr val="0D5F9A"/>
                  </a:solidFill>
                  <a:latin typeface="Calibri"/>
                  <a:ea typeface="Calibri"/>
                  <a:cs typeface="Calibri"/>
                  <a:sym typeface="Calibri"/>
                </a:rPr>
                <a:t>Spring Boot (JDK 21)</a:t>
              </a:r>
              <a:endParaRPr b="1" sz="900">
                <a:solidFill>
                  <a:srgbClr val="0D5F9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5750" lvl="0" marL="457200" rtl="0" algn="l">
                <a:spcBef>
                  <a:spcPts val="300"/>
                </a:spcBef>
                <a:spcAft>
                  <a:spcPts val="0"/>
                </a:spcAft>
                <a:buClr>
                  <a:srgbClr val="0A1628"/>
                </a:buClr>
                <a:buSzPts val="900"/>
                <a:buFont typeface="Calibri"/>
                <a:buChar char="●"/>
              </a:pPr>
              <a:r>
                <a:rPr lang="en-US" sz="900">
                  <a:solidFill>
                    <a:srgbClr val="0A1628"/>
                  </a:solidFill>
                  <a:latin typeface="Calibri"/>
                  <a:ea typeface="Calibri"/>
                  <a:cs typeface="Calibri"/>
                  <a:sym typeface="Calibri"/>
                </a:rPr>
                <a:t>PostgreSQL &amp; Kafka éphémères</a:t>
              </a:r>
              <a:endParaRPr sz="900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5750" lvl="0" marL="457200" rtl="0" algn="l">
                <a:spcBef>
                  <a:spcPts val="150"/>
                </a:spcBef>
                <a:spcAft>
                  <a:spcPts val="0"/>
                </a:spcAft>
                <a:buClr>
                  <a:srgbClr val="0A1628"/>
                </a:buClr>
                <a:buSzPts val="900"/>
                <a:buFont typeface="Calibri"/>
                <a:buChar char="●"/>
              </a:pPr>
              <a:r>
                <a:rPr lang="en-US" sz="900">
                  <a:solidFill>
                    <a:srgbClr val="0A1628"/>
                  </a:solidFill>
                  <a:latin typeface="Calibri"/>
                  <a:ea typeface="Calibri"/>
                  <a:cs typeface="Calibri"/>
                  <a:sym typeface="Calibri"/>
                </a:rPr>
                <a:t>Initialisation DB auto</a:t>
              </a:r>
              <a:endParaRPr sz="900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5750" lvl="0" marL="457200" rtl="0" algn="l">
                <a:spcBef>
                  <a:spcPts val="150"/>
                </a:spcBef>
                <a:spcAft>
                  <a:spcPts val="0"/>
                </a:spcAft>
                <a:buClr>
                  <a:srgbClr val="0A1628"/>
                </a:buClr>
                <a:buSzPts val="900"/>
                <a:buFont typeface="Calibri"/>
                <a:buChar char="●"/>
              </a:pPr>
              <a:r>
                <a:rPr lang="en-US" sz="900">
                  <a:solidFill>
                    <a:srgbClr val="0A1628"/>
                  </a:solidFill>
                  <a:latin typeface="Calibri"/>
                  <a:ea typeface="Calibri"/>
                  <a:cs typeface="Calibri"/>
                  <a:sym typeface="Calibri"/>
                </a:rPr>
                <a:t>./mvnw clean test</a:t>
              </a:r>
              <a:endParaRPr sz="900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1" name="Google Shape;221;p20"/>
            <p:cNvSpPr/>
            <p:nvPr/>
          </p:nvSpPr>
          <p:spPr>
            <a:xfrm>
              <a:off x="365760" y="2347913"/>
              <a:ext cx="2476500" cy="1285800"/>
            </a:xfrm>
            <a:prstGeom prst="roundRect">
              <a:avLst>
                <a:gd fmla="val 5925" name="adj"/>
              </a:avLst>
            </a:prstGeom>
            <a:solidFill>
              <a:srgbClr val="FFFFFF"/>
            </a:solidFill>
            <a:ln cap="flat" cmpd="sng" w="9525">
              <a:solidFill>
                <a:srgbClr val="D0D8E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" name="Google Shape;222;p20"/>
            <p:cNvSpPr/>
            <p:nvPr/>
          </p:nvSpPr>
          <p:spPr>
            <a:xfrm>
              <a:off x="365760" y="2347913"/>
              <a:ext cx="2476500" cy="333300"/>
            </a:xfrm>
            <a:prstGeom prst="roundRect">
              <a:avLst>
                <a:gd fmla="val 22857" name="adj"/>
              </a:avLst>
            </a:prstGeom>
            <a:solidFill>
              <a:srgbClr val="0D7A6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" name="Google Shape;223;p20"/>
            <p:cNvSpPr txBox="1"/>
            <p:nvPr/>
          </p:nvSpPr>
          <p:spPr>
            <a:xfrm>
              <a:off x="365760" y="2347913"/>
              <a:ext cx="2476500" cy="333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2. Tests Services Node.js</a:t>
              </a:r>
              <a:endParaRPr b="1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4" name="Google Shape;224;p20"/>
            <p:cNvSpPr txBox="1"/>
            <p:nvPr/>
          </p:nvSpPr>
          <p:spPr>
            <a:xfrm>
              <a:off x="461010" y="2728913"/>
              <a:ext cx="2286000" cy="857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900">
                  <a:solidFill>
                    <a:srgbClr val="0D7A6A"/>
                  </a:solidFill>
                  <a:latin typeface="Calibri"/>
                  <a:ea typeface="Calibri"/>
                  <a:cs typeface="Calibri"/>
                  <a:sym typeface="Calibri"/>
                </a:rPr>
                <a:t>NestJS (Node 20)</a:t>
              </a:r>
              <a:endParaRPr b="1" sz="900">
                <a:solidFill>
                  <a:srgbClr val="0D7A6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5750" lvl="0" marL="457200" rtl="0" algn="l">
                <a:spcBef>
                  <a:spcPts val="300"/>
                </a:spcBef>
                <a:spcAft>
                  <a:spcPts val="0"/>
                </a:spcAft>
                <a:buClr>
                  <a:srgbClr val="0A1628"/>
                </a:buClr>
                <a:buSzPts val="900"/>
                <a:buFont typeface="Calibri"/>
                <a:buChar char="●"/>
              </a:pPr>
              <a:r>
                <a:rPr lang="en-US" sz="900">
                  <a:solidFill>
                    <a:srgbClr val="0A1628"/>
                  </a:solidFill>
                  <a:latin typeface="Calibri"/>
                  <a:ea typeface="Calibri"/>
                  <a:cs typeface="Calibri"/>
                  <a:sym typeface="Calibri"/>
                </a:rPr>
                <a:t>Checkout &amp; Setup Node</a:t>
              </a:r>
              <a:endParaRPr sz="900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5750" lvl="0" marL="457200" rtl="0" algn="l">
                <a:spcBef>
                  <a:spcPts val="150"/>
                </a:spcBef>
                <a:spcAft>
                  <a:spcPts val="0"/>
                </a:spcAft>
                <a:buClr>
                  <a:srgbClr val="0A1628"/>
                </a:buClr>
                <a:buSzPts val="900"/>
                <a:buFont typeface="Calibri"/>
                <a:buChar char="●"/>
              </a:pPr>
              <a:r>
                <a:rPr lang="en-US" sz="900">
                  <a:solidFill>
                    <a:srgbClr val="0A1628"/>
                  </a:solidFill>
                  <a:latin typeface="Calibri"/>
                  <a:ea typeface="Calibri"/>
                  <a:cs typeface="Calibri"/>
                  <a:sym typeface="Calibri"/>
                </a:rPr>
                <a:t>npm ci (installation propre)</a:t>
              </a:r>
              <a:endParaRPr sz="900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5750" lvl="0" marL="457200" rtl="0" algn="l">
                <a:spcBef>
                  <a:spcPts val="150"/>
                </a:spcBef>
                <a:spcAft>
                  <a:spcPts val="0"/>
                </a:spcAft>
                <a:buClr>
                  <a:srgbClr val="0A1628"/>
                </a:buClr>
                <a:buSzPts val="900"/>
                <a:buFont typeface="Calibri"/>
                <a:buChar char="●"/>
              </a:pPr>
              <a:r>
                <a:rPr lang="en-US" sz="900">
                  <a:solidFill>
                    <a:srgbClr val="0A1628"/>
                  </a:solidFill>
                  <a:latin typeface="Calibri"/>
                  <a:ea typeface="Calibri"/>
                  <a:cs typeface="Calibri"/>
                  <a:sym typeface="Calibri"/>
                </a:rPr>
                <a:t>npm test (location-service)</a:t>
              </a:r>
              <a:endParaRPr sz="900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5" name="Google Shape;225;p20"/>
            <p:cNvSpPr/>
            <p:nvPr/>
          </p:nvSpPr>
          <p:spPr>
            <a:xfrm>
              <a:off x="365760" y="3776663"/>
              <a:ext cx="2476500" cy="1095300"/>
            </a:xfrm>
            <a:prstGeom prst="roundRect">
              <a:avLst>
                <a:gd fmla="val 6956" name="adj"/>
              </a:avLst>
            </a:prstGeom>
            <a:solidFill>
              <a:srgbClr val="FFFFFF"/>
            </a:solidFill>
            <a:ln cap="flat" cmpd="sng" w="9525">
              <a:solidFill>
                <a:srgbClr val="D0D8E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" name="Google Shape;226;p20"/>
            <p:cNvSpPr/>
            <p:nvPr/>
          </p:nvSpPr>
          <p:spPr>
            <a:xfrm>
              <a:off x="365760" y="3776663"/>
              <a:ext cx="2476500" cy="333300"/>
            </a:xfrm>
            <a:prstGeom prst="roundRect">
              <a:avLst>
                <a:gd fmla="val 22857" name="adj"/>
              </a:avLst>
            </a:prstGeom>
            <a:solidFill>
              <a:srgbClr val="7A4D0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" name="Google Shape;227;p20"/>
            <p:cNvSpPr txBox="1"/>
            <p:nvPr/>
          </p:nvSpPr>
          <p:spPr>
            <a:xfrm>
              <a:off x="365760" y="3776663"/>
              <a:ext cx="2476500" cy="333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3. Linting Helm</a:t>
              </a:r>
              <a:endParaRPr b="1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8" name="Google Shape;228;p20"/>
            <p:cNvSpPr txBox="1"/>
            <p:nvPr/>
          </p:nvSpPr>
          <p:spPr>
            <a:xfrm>
              <a:off x="461010" y="4157663"/>
              <a:ext cx="2286000" cy="66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900">
                  <a:solidFill>
                    <a:srgbClr val="7A4D0D"/>
                  </a:solidFill>
                  <a:latin typeface="Calibri"/>
                  <a:ea typeface="Calibri"/>
                  <a:cs typeface="Calibri"/>
                  <a:sym typeface="Calibri"/>
                </a:rPr>
                <a:t>Infrastructure as Code</a:t>
              </a:r>
              <a:endParaRPr b="1" sz="900">
                <a:solidFill>
                  <a:srgbClr val="7A4D0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5750" lvl="0" marL="457200" rtl="0" algn="l">
                <a:spcBef>
                  <a:spcPts val="300"/>
                </a:spcBef>
                <a:spcAft>
                  <a:spcPts val="0"/>
                </a:spcAft>
                <a:buClr>
                  <a:srgbClr val="0A1628"/>
                </a:buClr>
                <a:buSzPts val="900"/>
                <a:buFont typeface="Calibri"/>
                <a:buChar char="●"/>
              </a:pPr>
              <a:r>
                <a:rPr lang="en-US" sz="900">
                  <a:solidFill>
                    <a:srgbClr val="0A1628"/>
                  </a:solidFill>
                  <a:latin typeface="Calibri"/>
                  <a:ea typeface="Calibri"/>
                  <a:cs typeface="Calibri"/>
                  <a:sym typeface="Calibri"/>
                </a:rPr>
                <a:t>Validation fleet-infra/app/obs</a:t>
              </a:r>
              <a:endParaRPr sz="900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5750" lvl="0" marL="457200" rtl="0" algn="l">
                <a:spcBef>
                  <a:spcPts val="150"/>
                </a:spcBef>
                <a:spcAft>
                  <a:spcPts val="0"/>
                </a:spcAft>
                <a:buClr>
                  <a:srgbClr val="0A1628"/>
                </a:buClr>
                <a:buSzPts val="900"/>
                <a:buFont typeface="Calibri"/>
                <a:buChar char="●"/>
              </a:pPr>
              <a:r>
                <a:rPr lang="en-US" sz="900">
                  <a:solidFill>
                    <a:srgbClr val="0A1628"/>
                  </a:solidFill>
                  <a:latin typeface="Calibri"/>
                  <a:ea typeface="Calibri"/>
                  <a:cs typeface="Calibri"/>
                  <a:sym typeface="Calibri"/>
                </a:rPr>
                <a:t>helm lint (fichiers K8s)</a:t>
              </a:r>
              <a:endParaRPr sz="900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229" name="Google Shape;229;p2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2838450" y="1552575"/>
              <a:ext cx="1176300" cy="15051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0" name="Google Shape;230;p20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2838450" y="2924175"/>
              <a:ext cx="1176300" cy="133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1" name="Google Shape;231;p20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2838450" y="2924175"/>
              <a:ext cx="1176300" cy="14097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32" name="Google Shape;232;p20"/>
            <p:cNvSpPr/>
            <p:nvPr/>
          </p:nvSpPr>
          <p:spPr>
            <a:xfrm>
              <a:off x="3825240" y="1585913"/>
              <a:ext cx="4953000" cy="2809800"/>
            </a:xfrm>
            <a:prstGeom prst="roundRect">
              <a:avLst>
                <a:gd fmla="val 2711" name="adj"/>
              </a:avLst>
            </a:prstGeom>
            <a:solidFill>
              <a:srgbClr val="FFFFFF"/>
            </a:solidFill>
            <a:ln cap="flat" cmpd="sng" w="9525">
              <a:solidFill>
                <a:srgbClr val="D0D8E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3" name="Google Shape;233;p20"/>
            <p:cNvSpPr/>
            <p:nvPr/>
          </p:nvSpPr>
          <p:spPr>
            <a:xfrm>
              <a:off x="3825240" y="1585913"/>
              <a:ext cx="4953000" cy="428700"/>
            </a:xfrm>
            <a:prstGeom prst="roundRect">
              <a:avLst>
                <a:gd fmla="val 17777" name="adj"/>
              </a:avLst>
            </a:prstGeom>
            <a:solidFill>
              <a:srgbClr val="6A0D7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4" name="Google Shape;234;p20"/>
            <p:cNvSpPr txBox="1"/>
            <p:nvPr/>
          </p:nvSpPr>
          <p:spPr>
            <a:xfrm>
              <a:off x="3825240" y="1585913"/>
              <a:ext cx="4953000" cy="42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4. Build &amp; Push — ghcr.io</a:t>
              </a:r>
              <a:endParaRPr b="1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5" name="Google Shape;235;p20"/>
            <p:cNvSpPr txBox="1"/>
            <p:nvPr/>
          </p:nvSpPr>
          <p:spPr>
            <a:xfrm>
              <a:off x="4015740" y="2109788"/>
              <a:ext cx="4572000" cy="2190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050">
                  <a:solidFill>
                    <a:srgbClr val="6A0D7A"/>
                  </a:solidFill>
                  <a:latin typeface="Calibri"/>
                  <a:ea typeface="Calibri"/>
                  <a:cs typeface="Calibri"/>
                  <a:sym typeface="Calibri"/>
                </a:rPr>
                <a:t>Condition : Main/Staging + Succès jobs 1, 2, 3</a:t>
              </a:r>
              <a:endParaRPr b="1" sz="1050">
                <a:solidFill>
                  <a:srgbClr val="6A0D7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9527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0A1628"/>
                </a:buClr>
                <a:buSzPts val="1050"/>
                <a:buFont typeface="Calibri"/>
                <a:buChar char="●"/>
              </a:pPr>
              <a:r>
                <a:rPr b="1" lang="en-US" sz="1050">
                  <a:solidFill>
                    <a:srgbClr val="0A1628"/>
                  </a:solidFill>
                  <a:latin typeface="Calibri"/>
                  <a:ea typeface="Calibri"/>
                  <a:cs typeface="Calibri"/>
                  <a:sym typeface="Calibri"/>
                </a:rPr>
                <a:t>Multi-plateforme :</a:t>
              </a:r>
              <a:r>
                <a:rPr lang="en-US" sz="1050">
                  <a:solidFill>
                    <a:srgbClr val="0A1628"/>
                  </a:solidFill>
                  <a:latin typeface="Calibri"/>
                  <a:ea typeface="Calibri"/>
                  <a:cs typeface="Calibri"/>
                  <a:sym typeface="Calibri"/>
                </a:rPr>
                <a:t> Setup QEMU &amp; Buildx</a:t>
              </a:r>
              <a:endParaRPr sz="1050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95275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0A1628"/>
                </a:buClr>
                <a:buSzPts val="1050"/>
                <a:buFont typeface="Calibri"/>
                <a:buChar char="●"/>
              </a:pPr>
              <a:r>
                <a:rPr b="1" lang="en-US" sz="1050">
                  <a:solidFill>
                    <a:srgbClr val="0A1628"/>
                  </a:solidFill>
                  <a:latin typeface="Calibri"/>
                  <a:ea typeface="Calibri"/>
                  <a:cs typeface="Calibri"/>
                  <a:sym typeface="Calibri"/>
                </a:rPr>
                <a:t>Authentification :</a:t>
              </a:r>
              <a:r>
                <a:rPr lang="en-US" sz="1050">
                  <a:solidFill>
                    <a:srgbClr val="0A1628"/>
                  </a:solidFill>
                  <a:latin typeface="Calibri"/>
                  <a:ea typeface="Calibri"/>
                  <a:cs typeface="Calibri"/>
                  <a:sym typeface="Calibri"/>
                </a:rPr>
                <a:t> GitHub Container Registry (ghcr.io)</a:t>
              </a:r>
              <a:endParaRPr sz="1050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95275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0A1628"/>
                </a:buClr>
                <a:buSzPts val="1050"/>
                <a:buFont typeface="Calibri"/>
                <a:buChar char="●"/>
              </a:pPr>
              <a:r>
                <a:rPr b="1" lang="en-US" sz="1050">
                  <a:solidFill>
                    <a:srgbClr val="0A1628"/>
                  </a:solidFill>
                  <a:latin typeface="Calibri"/>
                  <a:ea typeface="Calibri"/>
                  <a:cs typeface="Calibri"/>
                  <a:sym typeface="Calibri"/>
                </a:rPr>
                <a:t>Itération multi-services :</a:t>
              </a:r>
              <a:r>
                <a:rPr lang="en-US" sz="1050">
                  <a:solidFill>
                    <a:srgbClr val="0A1628"/>
                  </a:solidFill>
                  <a:latin typeface="Calibri"/>
                  <a:ea typeface="Calibri"/>
                  <a:cs typeface="Calibri"/>
                  <a:sym typeface="Calibri"/>
                </a:rPr>
                <a:t> drivers, maintenance, vehicles, events, location, gateway, frontend</a:t>
              </a:r>
              <a:endParaRPr sz="1050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95275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0A1628"/>
                </a:buClr>
                <a:buSzPts val="1050"/>
                <a:buFont typeface="Calibri"/>
                <a:buChar char="●"/>
              </a:pPr>
              <a:r>
                <a:rPr b="1" lang="en-US" sz="1050">
                  <a:solidFill>
                    <a:srgbClr val="0A1628"/>
                  </a:solidFill>
                  <a:latin typeface="Calibri"/>
                  <a:ea typeface="Calibri"/>
                  <a:cs typeface="Calibri"/>
                  <a:sym typeface="Calibri"/>
                </a:rPr>
                <a:t>Versionnement :</a:t>
              </a:r>
              <a:r>
                <a:rPr lang="en-US" sz="1050">
                  <a:solidFill>
                    <a:srgbClr val="0A1628"/>
                  </a:solidFill>
                  <a:latin typeface="Calibri"/>
                  <a:ea typeface="Calibri"/>
                  <a:cs typeface="Calibri"/>
                  <a:sym typeface="Calibri"/>
                </a:rPr>
                <a:t> Tags :latest et :${{ github.sha }}</a:t>
              </a:r>
              <a:endParaRPr sz="1050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95275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0A1628"/>
                </a:buClr>
                <a:buSzPts val="1050"/>
                <a:buFont typeface="Calibri"/>
                <a:buChar char="●"/>
              </a:pPr>
              <a:r>
                <a:rPr b="1" lang="en-US" sz="1050">
                  <a:solidFill>
                    <a:srgbClr val="0A1628"/>
                  </a:solidFill>
                  <a:latin typeface="Calibri"/>
                  <a:ea typeface="Calibri"/>
                  <a:cs typeface="Calibri"/>
                  <a:sym typeface="Calibri"/>
                </a:rPr>
                <a:t>Optimisation :</a:t>
              </a:r>
              <a:r>
                <a:rPr lang="en-US" sz="1050">
                  <a:solidFill>
                    <a:srgbClr val="0A1628"/>
                  </a:solidFill>
                  <a:latin typeface="Calibri"/>
                  <a:ea typeface="Calibri"/>
                  <a:cs typeface="Calibri"/>
                  <a:sym typeface="Calibri"/>
                </a:rPr>
                <a:t> Utilisation du cache Actions pour des builds rapides</a:t>
              </a:r>
              <a:endParaRPr sz="1050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ctr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i="1" lang="en-US" sz="1050">
                  <a:solidFill>
                    <a:srgbClr val="6A0D7A"/>
                  </a:solidFill>
                  <a:latin typeface="Calibri"/>
                  <a:ea typeface="Calibri"/>
                  <a:cs typeface="Calibri"/>
                  <a:sym typeface="Calibri"/>
                </a:rPr>
                <a:t>✅ Pipeline robuste : Zéro image si tests ou infra invalides.</a:t>
              </a:r>
              <a:endParaRPr i="1" sz="1050">
                <a:solidFill>
                  <a:srgbClr val="6A0D7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6" name="Google Shape;236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" name="Google Shape;245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21"/>
          <p:cNvSpPr/>
          <p:nvPr/>
        </p:nvSpPr>
        <p:spPr>
          <a:xfrm>
            <a:off x="0" y="0"/>
            <a:ext cx="9144000" cy="7812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21"/>
          <p:cNvSpPr txBox="1"/>
          <p:nvPr/>
        </p:nvSpPr>
        <p:spPr>
          <a:xfrm>
            <a:off x="361950" y="0"/>
            <a:ext cx="8420100" cy="781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Architecture Micro Frontends</a:t>
            </a:r>
            <a:endParaRPr b="1" sz="24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21"/>
          <p:cNvSpPr txBox="1"/>
          <p:nvPr/>
        </p:nvSpPr>
        <p:spPr>
          <a:xfrm>
            <a:off x="361950" y="914400"/>
            <a:ext cx="8420100" cy="362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E8A020"/>
                </a:solidFill>
                <a:latin typeface="Calibri"/>
                <a:ea typeface="Calibri"/>
                <a:cs typeface="Calibri"/>
                <a:sym typeface="Calibri"/>
              </a:rPr>
              <a:t>Composition &amp; Orchestration (Nx Monorepo)</a:t>
            </a:r>
            <a:endParaRPr b="1" sz="1400">
              <a:solidFill>
                <a:srgbClr val="E8A02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21"/>
          <p:cNvSpPr/>
          <p:nvPr/>
        </p:nvSpPr>
        <p:spPr>
          <a:xfrm>
            <a:off x="714375" y="1571625"/>
            <a:ext cx="2095500" cy="1714500"/>
          </a:xfrm>
          <a:prstGeom prst="roundRect">
            <a:avLst>
              <a:gd fmla="val 4444" name="adj"/>
            </a:avLst>
          </a:prstGeom>
          <a:solidFill>
            <a:srgbClr val="FFFFFF"/>
          </a:solidFill>
          <a:ln cap="flat" cmpd="sng" w="9525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21"/>
          <p:cNvSpPr/>
          <p:nvPr/>
        </p:nvSpPr>
        <p:spPr>
          <a:xfrm>
            <a:off x="714375" y="1571625"/>
            <a:ext cx="2095500" cy="381000"/>
          </a:xfrm>
          <a:prstGeom prst="roundRect">
            <a:avLst>
              <a:gd fmla="val 20000" name="adj"/>
            </a:avLst>
          </a:prstGeom>
          <a:solidFill>
            <a:srgbClr val="0D5F9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21"/>
          <p:cNvSpPr txBox="1"/>
          <p:nvPr/>
        </p:nvSpPr>
        <p:spPr>
          <a:xfrm>
            <a:off x="714375" y="1571625"/>
            <a:ext cx="2095500" cy="381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Shell (Host)</a:t>
            </a:r>
            <a:endParaRPr b="1" sz="12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1"/>
          <p:cNvSpPr txBox="1"/>
          <p:nvPr/>
        </p:nvSpPr>
        <p:spPr>
          <a:xfrm>
            <a:off x="809625" y="2000250"/>
            <a:ext cx="1905000" cy="119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0D5F9A"/>
                </a:solidFill>
                <a:latin typeface="Calibri"/>
                <a:ea typeface="Calibri"/>
                <a:cs typeface="Calibri"/>
                <a:sym typeface="Calibri"/>
              </a:rPr>
              <a:t>Application Socle</a:t>
            </a:r>
            <a:endParaRPr b="1" sz="1000">
              <a:solidFill>
                <a:srgbClr val="0D5F9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2100" lvl="0" marL="457200" rtl="0" algn="l">
              <a:spcBef>
                <a:spcPts val="300"/>
              </a:spcBef>
              <a:spcAft>
                <a:spcPts val="0"/>
              </a:spcAft>
              <a:buClr>
                <a:srgbClr val="0A1628"/>
              </a:buClr>
              <a:buSzPts val="1000"/>
              <a:buFont typeface="Calibri"/>
              <a:buChar char="●"/>
            </a:pPr>
            <a:r>
              <a:rPr b="0" lang="en-US" sz="1000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Point d'entrée unique</a:t>
            </a:r>
            <a:endParaRPr b="0" sz="1000">
              <a:solidFill>
                <a:srgbClr val="0A162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000"/>
              <a:buFont typeface="Calibri"/>
              <a:buChar char="●"/>
            </a:pPr>
            <a:r>
              <a:rPr b="0" lang="en-US" sz="1000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Navigation principale</a:t>
            </a:r>
            <a:endParaRPr b="0" sz="1000">
              <a:solidFill>
                <a:srgbClr val="0A162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000"/>
              <a:buFont typeface="Calibri"/>
              <a:buChar char="●"/>
            </a:pPr>
            <a:r>
              <a:rPr b="0" lang="en-US" sz="1000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Sécurité (Keycloak)</a:t>
            </a:r>
            <a:endParaRPr b="0" sz="1000">
              <a:solidFill>
                <a:srgbClr val="0A162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000"/>
              <a:buFont typeface="Calibri"/>
              <a:buChar char="●"/>
            </a:pPr>
            <a:r>
              <a:rPr b="0" lang="en-US" sz="1000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Module Federation</a:t>
            </a:r>
            <a:endParaRPr b="0" sz="1000">
              <a:solidFill>
                <a:srgbClr val="0A162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3" name="Google Shape;253;p21"/>
          <p:cNvPicPr preferRelativeResize="0"/>
          <p:nvPr/>
        </p:nvPicPr>
        <p:blipFill rotWithShape="1">
          <a:blip r:embed="rId4">
            <a:alphaModFix/>
          </a:blip>
          <a:srcRect b="0" l="377" r="377" t="0"/>
          <a:stretch/>
        </p:blipFill>
        <p:spPr>
          <a:xfrm>
            <a:off x="2809875" y="2419350"/>
            <a:ext cx="666900" cy="19200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21"/>
          <p:cNvSpPr/>
          <p:nvPr/>
        </p:nvSpPr>
        <p:spPr>
          <a:xfrm>
            <a:off x="3476625" y="1571625"/>
            <a:ext cx="5524500" cy="1714500"/>
          </a:xfrm>
          <a:prstGeom prst="roundRect">
            <a:avLst>
              <a:gd fmla="val 4444" name="adj"/>
            </a:avLst>
          </a:prstGeom>
          <a:solidFill>
            <a:srgbClr val="FFFFFF"/>
          </a:solidFill>
          <a:ln cap="flat" cmpd="sng" w="9525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21"/>
          <p:cNvSpPr/>
          <p:nvPr/>
        </p:nvSpPr>
        <p:spPr>
          <a:xfrm>
            <a:off x="3476625" y="1571625"/>
            <a:ext cx="5524500" cy="381000"/>
          </a:xfrm>
          <a:prstGeom prst="roundRect">
            <a:avLst>
              <a:gd fmla="val 20000" name="adj"/>
            </a:avLst>
          </a:prstGeom>
          <a:solidFill>
            <a:srgbClr val="0D7A6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21"/>
          <p:cNvSpPr txBox="1"/>
          <p:nvPr/>
        </p:nvSpPr>
        <p:spPr>
          <a:xfrm>
            <a:off x="3476625" y="1571625"/>
            <a:ext cx="5524500" cy="381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Remote Apps (Micro-frontends)</a:t>
            </a:r>
            <a:endParaRPr b="1" sz="12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57" name="Google Shape;257;p21"/>
          <p:cNvGrpSpPr/>
          <p:nvPr/>
        </p:nvGrpSpPr>
        <p:grpSpPr>
          <a:xfrm>
            <a:off x="3667125" y="2095500"/>
            <a:ext cx="5191200" cy="1095300"/>
            <a:chOff x="3667125" y="2095500"/>
            <a:chExt cx="5191200" cy="1095300"/>
          </a:xfrm>
        </p:grpSpPr>
        <p:sp>
          <p:nvSpPr>
            <p:cNvPr id="258" name="Google Shape;258;p21"/>
            <p:cNvSpPr/>
            <p:nvPr/>
          </p:nvSpPr>
          <p:spPr>
            <a:xfrm>
              <a:off x="3667125" y="2095500"/>
              <a:ext cx="1190700" cy="428700"/>
            </a:xfrm>
            <a:prstGeom prst="roundRect">
              <a:avLst>
                <a:gd fmla="val 8887" name="adj"/>
              </a:avLst>
            </a:prstGeom>
            <a:solidFill>
              <a:srgbClr val="0D7A6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" name="Google Shape;259;p21"/>
            <p:cNvSpPr txBox="1"/>
            <p:nvPr/>
          </p:nvSpPr>
          <p:spPr>
            <a:xfrm>
              <a:off x="3667125" y="2095500"/>
              <a:ext cx="1190700" cy="428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9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drivers</a:t>
              </a:r>
              <a:endParaRPr b="1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0" name="Google Shape;260;p21"/>
            <p:cNvSpPr/>
            <p:nvPr/>
          </p:nvSpPr>
          <p:spPr>
            <a:xfrm>
              <a:off x="5000625" y="2095500"/>
              <a:ext cx="1190700" cy="428700"/>
            </a:xfrm>
            <a:prstGeom prst="roundRect">
              <a:avLst>
                <a:gd fmla="val 8887" name="adj"/>
              </a:avLst>
            </a:prstGeom>
            <a:solidFill>
              <a:srgbClr val="0D7A6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1" name="Google Shape;261;p21"/>
            <p:cNvSpPr txBox="1"/>
            <p:nvPr/>
          </p:nvSpPr>
          <p:spPr>
            <a:xfrm>
              <a:off x="5000625" y="2095500"/>
              <a:ext cx="1190700" cy="428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9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location</a:t>
              </a:r>
              <a:endParaRPr b="1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" name="Google Shape;262;p21"/>
            <p:cNvSpPr/>
            <p:nvPr/>
          </p:nvSpPr>
          <p:spPr>
            <a:xfrm>
              <a:off x="6334125" y="2095500"/>
              <a:ext cx="1190700" cy="428700"/>
            </a:xfrm>
            <a:prstGeom prst="roundRect">
              <a:avLst>
                <a:gd fmla="val 8887" name="adj"/>
              </a:avLst>
            </a:prstGeom>
            <a:solidFill>
              <a:srgbClr val="0D7A6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3" name="Google Shape;263;p21"/>
            <p:cNvSpPr txBox="1"/>
            <p:nvPr/>
          </p:nvSpPr>
          <p:spPr>
            <a:xfrm>
              <a:off x="6334125" y="2095500"/>
              <a:ext cx="1190700" cy="428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9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maintenance</a:t>
              </a:r>
              <a:endParaRPr b="1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" name="Google Shape;264;p21"/>
            <p:cNvSpPr/>
            <p:nvPr/>
          </p:nvSpPr>
          <p:spPr>
            <a:xfrm>
              <a:off x="7667625" y="2095500"/>
              <a:ext cx="1190700" cy="428700"/>
            </a:xfrm>
            <a:prstGeom prst="roundRect">
              <a:avLst>
                <a:gd fmla="val 8887" name="adj"/>
              </a:avLst>
            </a:prstGeom>
            <a:solidFill>
              <a:srgbClr val="0D7A6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5" name="Google Shape;265;p21"/>
            <p:cNvSpPr txBox="1"/>
            <p:nvPr/>
          </p:nvSpPr>
          <p:spPr>
            <a:xfrm>
              <a:off x="7667625" y="2095500"/>
              <a:ext cx="1190700" cy="428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9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vehicles</a:t>
              </a:r>
              <a:endParaRPr b="1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" name="Google Shape;266;p21"/>
            <p:cNvSpPr txBox="1"/>
            <p:nvPr/>
          </p:nvSpPr>
          <p:spPr>
            <a:xfrm>
              <a:off x="3667125" y="2667000"/>
              <a:ext cx="5191200" cy="5238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b="0" i="1" lang="en-US" sz="1000">
                  <a:solidFill>
                    <a:srgbClr val="0A1628"/>
                  </a:solidFill>
                  <a:latin typeface="Calibri"/>
                  <a:ea typeface="Calibri"/>
                  <a:cs typeface="Calibri"/>
                  <a:sym typeface="Calibri"/>
                </a:rPr>
                <a:t>Technologie : Webpack/Vite Module Federation</a:t>
              </a:r>
              <a:endParaRPr b="0" i="1" sz="1000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67" name="Google Shape;267;p21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4FA"/>
        </a:soli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22"/>
          <p:cNvSpPr/>
          <p:nvPr/>
        </p:nvSpPr>
        <p:spPr>
          <a:xfrm>
            <a:off x="0" y="0"/>
            <a:ext cx="9143700" cy="777000"/>
          </a:xfrm>
          <a:prstGeom prst="rect">
            <a:avLst/>
          </a:prstGeom>
          <a:solidFill>
            <a:srgbClr val="0A1628"/>
          </a:solidFill>
          <a:ln cap="flat" cmpd="sng" w="12600">
            <a:solidFill>
              <a:srgbClr val="0A16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p22"/>
          <p:cNvSpPr/>
          <p:nvPr/>
        </p:nvSpPr>
        <p:spPr>
          <a:xfrm>
            <a:off x="365760" y="0"/>
            <a:ext cx="8229300" cy="77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Observabilité</a:t>
            </a:r>
            <a:endParaRPr b="0" sz="22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22"/>
          <p:cNvSpPr/>
          <p:nvPr/>
        </p:nvSpPr>
        <p:spPr>
          <a:xfrm>
            <a:off x="343048" y="1066800"/>
            <a:ext cx="8457900" cy="3733800"/>
          </a:xfrm>
          <a:prstGeom prst="rect">
            <a:avLst/>
          </a:prstGeom>
          <a:solidFill>
            <a:srgbClr val="FFFFFF"/>
          </a:solidFill>
          <a:ln cap="flat" cmpd="sng" w="12600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  <a:effectLst>
            <a:outerShdw dir="8100000" dist="37674">
              <a:srgbClr val="000000">
                <a:alpha val="12156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22"/>
          <p:cNvSpPr/>
          <p:nvPr/>
        </p:nvSpPr>
        <p:spPr>
          <a:xfrm>
            <a:off x="556455" y="1143000"/>
            <a:ext cx="8084400" cy="411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📊 Observabilité — 3 Piliers</a:t>
            </a:r>
            <a:endParaRPr b="1" sz="1400">
              <a:solidFill>
                <a:srgbClr val="0A162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22"/>
          <p:cNvSpPr/>
          <p:nvPr/>
        </p:nvSpPr>
        <p:spPr>
          <a:xfrm>
            <a:off x="556460" y="1619250"/>
            <a:ext cx="63600" cy="914400"/>
          </a:xfrm>
          <a:prstGeom prst="rect">
            <a:avLst/>
          </a:prstGeom>
          <a:solidFill>
            <a:srgbClr val="E05A00"/>
          </a:solidFill>
          <a:ln cap="flat" cmpd="sng" w="12600">
            <a:solidFill>
              <a:srgbClr val="E05A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8" name="Google Shape;278;p22"/>
          <p:cNvSpPr/>
          <p:nvPr/>
        </p:nvSpPr>
        <p:spPr>
          <a:xfrm>
            <a:off x="777725" y="1619250"/>
            <a:ext cx="3873600" cy="914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E05A00"/>
                </a:solidFill>
                <a:latin typeface="Calibri"/>
                <a:ea typeface="Calibri"/>
                <a:cs typeface="Calibri"/>
                <a:sym typeface="Calibri"/>
              </a:rPr>
              <a:t>Ingestion et Collecte</a:t>
            </a:r>
            <a:endParaRPr b="0">
              <a:solidFill>
                <a:srgbClr val="E05A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rtl="0" algn="l">
              <a:spcBef>
                <a:spcPts val="375"/>
              </a:spcBef>
              <a:spcAft>
                <a:spcPts val="0"/>
              </a:spcAft>
              <a:buClr>
                <a:srgbClr val="E05A00"/>
              </a:buClr>
              <a:buSzPts val="1400"/>
              <a:buFont typeface="Calibri"/>
              <a:buChar char="●"/>
            </a:pPr>
            <a:r>
              <a:rPr b="0" lang="en-US" sz="1000">
                <a:solidFill>
                  <a:srgbClr val="E05A00"/>
                </a:solidFill>
                <a:latin typeface="Calibri"/>
                <a:ea typeface="Calibri"/>
                <a:cs typeface="Calibri"/>
                <a:sym typeface="Calibri"/>
              </a:rPr>
              <a:t>OpenTelemetry Collector : centraliser les données et redistribuer</a:t>
            </a:r>
            <a:endParaRPr b="0">
              <a:solidFill>
                <a:srgbClr val="E05A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E05A00"/>
              </a:buClr>
              <a:buSzPts val="1400"/>
              <a:buFont typeface="Calibri"/>
              <a:buChar char="●"/>
            </a:pPr>
            <a:r>
              <a:rPr b="0" lang="en-US" sz="1000">
                <a:solidFill>
                  <a:srgbClr val="E05A00"/>
                </a:solidFill>
                <a:latin typeface="Calibri"/>
                <a:ea typeface="Calibri"/>
                <a:cs typeface="Calibri"/>
                <a:sym typeface="Calibri"/>
              </a:rPr>
              <a:t>Promtail : scrapper les logs</a:t>
            </a:r>
            <a:endParaRPr b="0">
              <a:solidFill>
                <a:srgbClr val="E05A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2"/>
          <p:cNvSpPr/>
          <p:nvPr/>
        </p:nvSpPr>
        <p:spPr>
          <a:xfrm>
            <a:off x="556397" y="2667000"/>
            <a:ext cx="63600" cy="914400"/>
          </a:xfrm>
          <a:prstGeom prst="rect">
            <a:avLst/>
          </a:prstGeom>
          <a:solidFill>
            <a:srgbClr val="CC0000"/>
          </a:solidFill>
          <a:ln cap="flat" cmpd="sng" w="12600">
            <a:solidFill>
              <a:srgbClr val="CC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22"/>
          <p:cNvSpPr/>
          <p:nvPr/>
        </p:nvSpPr>
        <p:spPr>
          <a:xfrm>
            <a:off x="777775" y="2667000"/>
            <a:ext cx="3748800" cy="914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CC0000"/>
                </a:solidFill>
                <a:latin typeface="Calibri"/>
                <a:ea typeface="Calibri"/>
                <a:cs typeface="Calibri"/>
                <a:sym typeface="Calibri"/>
              </a:rPr>
              <a:t>Tracing</a:t>
            </a:r>
            <a:endParaRPr b="1" sz="1400">
              <a:solidFill>
                <a:srgbClr val="CC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rtl="0" algn="l">
              <a:spcBef>
                <a:spcPts val="375"/>
              </a:spcBef>
              <a:spcAft>
                <a:spcPts val="0"/>
              </a:spcAft>
              <a:buClr>
                <a:srgbClr val="CC0000"/>
              </a:buClr>
              <a:buSzPts val="1400"/>
              <a:buFont typeface="Calibri"/>
              <a:buChar char="●"/>
            </a:pPr>
            <a:r>
              <a:rPr b="0" lang="en-US" sz="1000">
                <a:solidFill>
                  <a:srgbClr val="CC0000"/>
                </a:solidFill>
                <a:latin typeface="Calibri"/>
                <a:ea typeface="Calibri"/>
                <a:cs typeface="Calibri"/>
                <a:sym typeface="Calibri"/>
              </a:rPr>
              <a:t>Jaeger : suivre les requêtes utilisateur</a:t>
            </a:r>
            <a:endParaRPr b="1" sz="1400">
              <a:solidFill>
                <a:srgbClr val="CC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22"/>
          <p:cNvSpPr/>
          <p:nvPr/>
        </p:nvSpPr>
        <p:spPr>
          <a:xfrm>
            <a:off x="556397" y="3721675"/>
            <a:ext cx="63600" cy="914400"/>
          </a:xfrm>
          <a:prstGeom prst="rect">
            <a:avLst/>
          </a:prstGeom>
          <a:solidFill>
            <a:srgbClr val="0070C0"/>
          </a:solidFill>
          <a:ln cap="flat" cmpd="sng" w="12600">
            <a:solidFill>
              <a:srgbClr val="0070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22"/>
          <p:cNvSpPr/>
          <p:nvPr/>
        </p:nvSpPr>
        <p:spPr>
          <a:xfrm>
            <a:off x="740150" y="3775843"/>
            <a:ext cx="3748800" cy="859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Métrique</a:t>
            </a:r>
            <a:endParaRPr b="1" sz="1400">
              <a:solidFill>
                <a:srgbClr val="0070C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rtl="0" algn="l">
              <a:spcBef>
                <a:spcPts val="375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Calibri"/>
              <a:buChar char="●"/>
            </a:pPr>
            <a:r>
              <a:rPr b="0" lang="en-US" sz="10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Prometheus : stocker les métriques de performances</a:t>
            </a:r>
            <a:endParaRPr b="1" sz="1400">
              <a:solidFill>
                <a:srgbClr val="0070C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22"/>
          <p:cNvSpPr/>
          <p:nvPr/>
        </p:nvSpPr>
        <p:spPr>
          <a:xfrm>
            <a:off x="5081883" y="1619250"/>
            <a:ext cx="63600" cy="914400"/>
          </a:xfrm>
          <a:prstGeom prst="rect">
            <a:avLst/>
          </a:prstGeom>
          <a:solidFill>
            <a:srgbClr val="38761D"/>
          </a:solidFill>
          <a:ln cap="flat" cmpd="sng" w="12600">
            <a:solidFill>
              <a:srgbClr val="38761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p22"/>
          <p:cNvSpPr txBox="1"/>
          <p:nvPr/>
        </p:nvSpPr>
        <p:spPr>
          <a:xfrm>
            <a:off x="5314798" y="1619250"/>
            <a:ext cx="3280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91400" lIns="91400" spcFirstLastPara="1" rIns="91400" wrap="square" tIns="914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8761D"/>
                </a:solidFill>
                <a:latin typeface="Arial"/>
                <a:ea typeface="Arial"/>
                <a:cs typeface="Arial"/>
                <a:sym typeface="Arial"/>
              </a:rPr>
              <a:t>Logs</a:t>
            </a:r>
            <a:endParaRPr b="1" sz="1400">
              <a:solidFill>
                <a:srgbClr val="38761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spcBef>
                <a:spcPts val="375"/>
              </a:spcBef>
              <a:spcAft>
                <a:spcPts val="0"/>
              </a:spcAft>
              <a:buClr>
                <a:srgbClr val="38761D"/>
              </a:buClr>
              <a:buSzPts val="1400"/>
              <a:buFont typeface="Arial"/>
              <a:buChar char="●"/>
            </a:pPr>
            <a:r>
              <a:rPr b="0" lang="en-US" sz="1000">
                <a:solidFill>
                  <a:srgbClr val="38761D"/>
                </a:solidFill>
                <a:latin typeface="Arial"/>
                <a:ea typeface="Arial"/>
                <a:cs typeface="Arial"/>
                <a:sym typeface="Arial"/>
              </a:rPr>
              <a:t>Loki : stocker les événements (logs)</a:t>
            </a:r>
            <a:endParaRPr b="1" sz="1400">
              <a:solidFill>
                <a:srgbClr val="38761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22"/>
          <p:cNvSpPr/>
          <p:nvPr/>
        </p:nvSpPr>
        <p:spPr>
          <a:xfrm>
            <a:off x="5081883" y="2667000"/>
            <a:ext cx="63600" cy="914400"/>
          </a:xfrm>
          <a:prstGeom prst="rect">
            <a:avLst/>
          </a:prstGeom>
          <a:solidFill>
            <a:srgbClr val="674EA7"/>
          </a:solidFill>
          <a:ln cap="flat" cmpd="sng" w="12600">
            <a:solidFill>
              <a:srgbClr val="674EA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86;p22"/>
          <p:cNvSpPr txBox="1"/>
          <p:nvPr/>
        </p:nvSpPr>
        <p:spPr>
          <a:xfrm>
            <a:off x="5243379" y="2699099"/>
            <a:ext cx="3351600" cy="859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91400" lIns="91400" spcFirstLastPara="1" rIns="91400" wrap="square" tIns="914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8E7CC3"/>
                </a:solidFill>
                <a:latin typeface="Arial"/>
                <a:ea typeface="Arial"/>
                <a:cs typeface="Arial"/>
                <a:sym typeface="Arial"/>
              </a:rPr>
              <a:t>Visualisation</a:t>
            </a:r>
            <a:endParaRPr b="1" sz="1400">
              <a:solidFill>
                <a:srgbClr val="8E7CC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spcBef>
                <a:spcPts val="375"/>
              </a:spcBef>
              <a:spcAft>
                <a:spcPts val="0"/>
              </a:spcAft>
              <a:buClr>
                <a:srgbClr val="8E7CC3"/>
              </a:buClr>
              <a:buSzPts val="1400"/>
              <a:buFont typeface="Arial"/>
              <a:buChar char="●"/>
            </a:pPr>
            <a:r>
              <a:rPr b="0" lang="en-US" sz="1000">
                <a:solidFill>
                  <a:srgbClr val="674EA7"/>
                </a:solidFill>
                <a:latin typeface="Arial"/>
                <a:ea typeface="Arial"/>
                <a:cs typeface="Arial"/>
                <a:sym typeface="Arial"/>
              </a:rPr>
              <a:t>Grafana : Interface web</a:t>
            </a:r>
            <a:endParaRPr b="1" sz="1400">
              <a:solidFill>
                <a:srgbClr val="8E7CC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23"/>
          <p:cNvSpPr/>
          <p:nvPr/>
        </p:nvSpPr>
        <p:spPr>
          <a:xfrm>
            <a:off x="0" y="0"/>
            <a:ext cx="9144000" cy="762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4" name="Google Shape;294;p23"/>
          <p:cNvSpPr/>
          <p:nvPr/>
        </p:nvSpPr>
        <p:spPr>
          <a:xfrm>
            <a:off x="381000" y="0"/>
            <a:ext cx="8382000" cy="762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Tests et Qualité</a:t>
            </a:r>
            <a:endParaRPr b="1" sz="24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95" name="Google Shape;295;p23"/>
          <p:cNvGrpSpPr/>
          <p:nvPr/>
        </p:nvGrpSpPr>
        <p:grpSpPr>
          <a:xfrm>
            <a:off x="285750" y="952500"/>
            <a:ext cx="4191000" cy="4000500"/>
            <a:chOff x="285750" y="952500"/>
            <a:chExt cx="4191000" cy="4000500"/>
          </a:xfrm>
        </p:grpSpPr>
        <p:sp>
          <p:nvSpPr>
            <p:cNvPr id="296" name="Google Shape;296;p23"/>
            <p:cNvSpPr/>
            <p:nvPr/>
          </p:nvSpPr>
          <p:spPr>
            <a:xfrm>
              <a:off x="285750" y="952500"/>
              <a:ext cx="4191000" cy="4000500"/>
            </a:xfrm>
            <a:prstGeom prst="roundRect">
              <a:avLst>
                <a:gd fmla="val 1904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7" name="Google Shape;297;p23"/>
            <p:cNvSpPr txBox="1"/>
            <p:nvPr/>
          </p:nvSpPr>
          <p:spPr>
            <a:xfrm>
              <a:off x="476250" y="109537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E8A020"/>
                  </a:solidFill>
                  <a:latin typeface="Calibri"/>
                  <a:ea typeface="Calibri"/>
                  <a:cs typeface="Calibri"/>
                  <a:sym typeface="Calibri"/>
                </a:rPr>
                <a:t>✅ Tests Unitaires &amp; Intégration</a:t>
              </a:r>
              <a:endParaRPr b="1" sz="1600">
                <a:solidFill>
                  <a:srgbClr val="E8A02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8" name="Google Shape;298;p23"/>
            <p:cNvSpPr txBox="1"/>
            <p:nvPr/>
          </p:nvSpPr>
          <p:spPr>
            <a:xfrm>
              <a:off x="476250" y="1524000"/>
              <a:ext cx="3810000" cy="323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0D5F9A"/>
                  </a:solidFill>
                  <a:latin typeface="Calibri"/>
                  <a:ea typeface="Calibri"/>
                  <a:cs typeface="Calibri"/>
                  <a:sym typeface="Calibri"/>
                </a:rPr>
                <a:t>JUnit 5 + Mockito (Spring Boot)</a:t>
              </a:r>
              <a:endParaRPr b="1" sz="1100">
                <a:solidFill>
                  <a:srgbClr val="0D5F9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64748B"/>
                  </a:solidFill>
                  <a:latin typeface="Calibri"/>
                  <a:ea typeface="Calibri"/>
                  <a:cs typeface="Calibri"/>
                  <a:sym typeface="Calibri"/>
                </a:rPr>
                <a:t>80% couverture (JaCoCo)</a:t>
              </a:r>
              <a:endParaRPr sz="11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0D5F9A"/>
                  </a:solidFill>
                  <a:latin typeface="Calibri"/>
                  <a:ea typeface="Calibri"/>
                  <a:cs typeface="Calibri"/>
                  <a:sym typeface="Calibri"/>
                </a:rPr>
                <a:t>Jest + Supertest (NestJS)</a:t>
              </a:r>
              <a:endParaRPr b="1" sz="1100">
                <a:solidFill>
                  <a:srgbClr val="0D5F9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64748B"/>
                  </a:solidFill>
                  <a:latin typeface="Calibri"/>
                  <a:ea typeface="Calibri"/>
                  <a:cs typeface="Calibri"/>
                  <a:sym typeface="Calibri"/>
                </a:rPr>
                <a:t>80% couverture (Istanbul)</a:t>
              </a:r>
              <a:endParaRPr sz="11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0D7A6A"/>
                  </a:solidFill>
                  <a:latin typeface="Calibri"/>
                  <a:ea typeface="Calibri"/>
                  <a:cs typeface="Calibri"/>
                  <a:sym typeface="Calibri"/>
                </a:rPr>
                <a:t>Tests d'Intégration</a:t>
              </a:r>
              <a:endParaRPr b="1" sz="1100">
                <a:solidFill>
                  <a:srgbClr val="0D7A6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98450" lvl="0" marL="457200" rtl="0" algn="l">
                <a:spcBef>
                  <a:spcPts val="300"/>
                </a:spcBef>
                <a:spcAft>
                  <a:spcPts val="0"/>
                </a:spcAft>
                <a:buClr>
                  <a:srgbClr val="475569"/>
                </a:buClr>
                <a:buSzPts val="1100"/>
                <a:buFont typeface="Calibri"/>
                <a:buChar char="●"/>
              </a:pPr>
              <a:r>
                <a:rPr lang="en-US" sz="11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Testcontainers (BDD + Kafka réels)</a:t>
              </a:r>
              <a:endParaRPr sz="11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98450" lvl="0" marL="457200" rtl="0" algn="l">
                <a:spcBef>
                  <a:spcPts val="300"/>
                </a:spcBef>
                <a:spcAft>
                  <a:spcPts val="0"/>
                </a:spcAft>
                <a:buClr>
                  <a:srgbClr val="475569"/>
                </a:buClr>
                <a:buSzPts val="1100"/>
                <a:buFont typeface="Calibri"/>
                <a:buChar char="●"/>
              </a:pPr>
              <a:r>
                <a:rPr lang="en-US" sz="11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MockMvc et Supertest</a:t>
              </a:r>
              <a:endParaRPr sz="11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98450" lvl="0" marL="457200" rtl="0" algn="l">
                <a:spcBef>
                  <a:spcPts val="300"/>
                </a:spcBef>
                <a:spcAft>
                  <a:spcPts val="0"/>
                </a:spcAft>
                <a:buClr>
                  <a:srgbClr val="475569"/>
                </a:buClr>
                <a:buSzPts val="1100"/>
                <a:buFont typeface="Calibri"/>
                <a:buChar char="●"/>
              </a:pPr>
              <a:r>
                <a:rPr lang="en-US" sz="11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API et contrats inter-services vérifiés</a:t>
              </a:r>
              <a:endParaRPr sz="11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E05A00"/>
                  </a:solidFill>
                  <a:latin typeface="Calibri"/>
                  <a:ea typeface="Calibri"/>
                  <a:cs typeface="Calibri"/>
                  <a:sym typeface="Calibri"/>
                </a:rPr>
                <a:t>Couverture globale</a:t>
              </a:r>
              <a:endParaRPr b="1" sz="1100">
                <a:solidFill>
                  <a:srgbClr val="E05A0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64748B"/>
                  </a:solidFill>
                  <a:latin typeface="Calibri"/>
                  <a:ea typeface="Calibri"/>
                  <a:cs typeface="Calibri"/>
                  <a:sym typeface="Calibri"/>
                </a:rPr>
                <a:t>80% mesurée</a:t>
              </a:r>
              <a:endParaRPr sz="11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9" name="Google Shape;299;p23"/>
          <p:cNvGrpSpPr/>
          <p:nvPr/>
        </p:nvGrpSpPr>
        <p:grpSpPr>
          <a:xfrm>
            <a:off x="4667250" y="952500"/>
            <a:ext cx="4191000" cy="4000500"/>
            <a:chOff x="4667250" y="952500"/>
            <a:chExt cx="4191000" cy="4000500"/>
          </a:xfrm>
        </p:grpSpPr>
        <p:sp>
          <p:nvSpPr>
            <p:cNvPr id="300" name="Google Shape;300;p23"/>
            <p:cNvSpPr/>
            <p:nvPr/>
          </p:nvSpPr>
          <p:spPr>
            <a:xfrm>
              <a:off x="4667250" y="952500"/>
              <a:ext cx="4191000" cy="4000500"/>
            </a:xfrm>
            <a:prstGeom prst="roundRect">
              <a:avLst>
                <a:gd fmla="val 1904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1" name="Google Shape;301;p23"/>
            <p:cNvSpPr txBox="1"/>
            <p:nvPr/>
          </p:nvSpPr>
          <p:spPr>
            <a:xfrm>
              <a:off x="4857750" y="109537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0A1628"/>
                  </a:solidFill>
                  <a:latin typeface="Calibri"/>
                  <a:ea typeface="Calibri"/>
                  <a:cs typeface="Calibri"/>
                  <a:sym typeface="Calibri"/>
                </a:rPr>
                <a:t>🌐 E2E, Charge &amp; Qualité CI</a:t>
              </a:r>
              <a:endParaRPr b="1" sz="1600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2" name="Google Shape;302;p23"/>
            <p:cNvSpPr txBox="1"/>
            <p:nvPr/>
          </p:nvSpPr>
          <p:spPr>
            <a:xfrm>
              <a:off x="4857750" y="1524000"/>
              <a:ext cx="3810000" cy="323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E05A00"/>
                  </a:solidFill>
                  <a:latin typeface="Calibri"/>
                  <a:ea typeface="Calibri"/>
                  <a:cs typeface="Calibri"/>
                  <a:sym typeface="Calibri"/>
                </a:rPr>
                <a:t>End-to-End — Playwright</a:t>
              </a:r>
              <a:endParaRPr b="1" sz="1100">
                <a:solidFill>
                  <a:srgbClr val="E05A0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98450" lvl="0" marL="457200" rtl="0" algn="l">
                <a:spcBef>
                  <a:spcPts val="300"/>
                </a:spcBef>
                <a:spcAft>
                  <a:spcPts val="0"/>
                </a:spcAft>
                <a:buClr>
                  <a:srgbClr val="475569"/>
                </a:buClr>
                <a:buSzPts val="1100"/>
                <a:buFont typeface="Calibri"/>
                <a:buChar char="●"/>
              </a:pPr>
              <a:r>
                <a:rPr lang="en-US" sz="11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Parcours complets : Auth → CRUD</a:t>
              </a:r>
              <a:endParaRPr sz="11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98450" lvl="0" marL="457200" rtl="0" algn="l">
                <a:spcBef>
                  <a:spcPts val="300"/>
                </a:spcBef>
                <a:spcAft>
                  <a:spcPts val="0"/>
                </a:spcAft>
                <a:buClr>
                  <a:srgbClr val="475569"/>
                </a:buClr>
                <a:buSzPts val="1100"/>
                <a:buFont typeface="Calibri"/>
                <a:buChar char="●"/>
              </a:pPr>
              <a:r>
                <a:rPr lang="en-US" sz="11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Bloquant avant déploiement</a:t>
              </a:r>
              <a:endParaRPr sz="11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CC0000"/>
                  </a:solidFill>
                  <a:latin typeface="Calibri"/>
                  <a:ea typeface="Calibri"/>
                  <a:cs typeface="Calibri"/>
                  <a:sym typeface="Calibri"/>
                </a:rPr>
                <a:t>Tests de Charge — k6</a:t>
              </a:r>
              <a:endParaRPr b="1" sz="1100">
                <a:solidFill>
                  <a:srgbClr val="CC000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98450" lvl="0" marL="457200" rtl="0" algn="l">
                <a:spcBef>
                  <a:spcPts val="300"/>
                </a:spcBef>
                <a:spcAft>
                  <a:spcPts val="0"/>
                </a:spcAft>
                <a:buClr>
                  <a:srgbClr val="475569"/>
                </a:buClr>
                <a:buSzPts val="1100"/>
                <a:buFont typeface="Calibri"/>
                <a:buChar char="●"/>
              </a:pPr>
              <a:r>
                <a:rPr lang="en-US" sz="11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500 véhicules simultanés (P95 &lt; 200ms)</a:t>
              </a:r>
              <a:endParaRPr sz="11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98450" lvl="0" marL="457200" rtl="0" algn="l">
                <a:spcBef>
                  <a:spcPts val="300"/>
                </a:spcBef>
                <a:spcAft>
                  <a:spcPts val="0"/>
                </a:spcAft>
                <a:buClr>
                  <a:srgbClr val="475569"/>
                </a:buClr>
                <a:buSzPts val="1100"/>
                <a:buFont typeface="Calibri"/>
                <a:buChar char="●"/>
              </a:pPr>
              <a:r>
                <a:rPr lang="en-US" sz="11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Analyse latence par endpoint</a:t>
              </a:r>
              <a:endParaRPr sz="11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0070C0"/>
                  </a:solidFill>
                  <a:latin typeface="Calibri"/>
                  <a:ea typeface="Calibri"/>
                  <a:cs typeface="Calibri"/>
                  <a:sym typeface="Calibri"/>
                </a:rPr>
                <a:t>Résultats &amp; Qualité CI</a:t>
              </a:r>
              <a:endParaRPr b="1" sz="11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98450" lvl="0" marL="457200" rtl="0" algn="l">
                <a:spcBef>
                  <a:spcPts val="300"/>
                </a:spcBef>
                <a:spcAft>
                  <a:spcPts val="0"/>
                </a:spcAft>
                <a:buClr>
                  <a:srgbClr val="475569"/>
                </a:buClr>
                <a:buSzPts val="1100"/>
                <a:buFont typeface="Calibri"/>
                <a:buChar char="●"/>
              </a:pPr>
              <a:r>
                <a:rPr lang="en-US" sz="11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Badge de couverture dans chaque PR</a:t>
              </a:r>
              <a:endParaRPr sz="11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98450" lvl="0" marL="457200" rtl="0" algn="l">
                <a:spcBef>
                  <a:spcPts val="300"/>
                </a:spcBef>
                <a:spcAft>
                  <a:spcPts val="300"/>
                </a:spcAft>
                <a:buClr>
                  <a:srgbClr val="475569"/>
                </a:buClr>
                <a:buSzPts val="1100"/>
                <a:buFont typeface="Calibri"/>
                <a:buChar char="●"/>
              </a:pPr>
              <a:r>
                <a:rPr lang="en-US" sz="11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Cycle : lint → test → build → deploy</a:t>
              </a:r>
              <a:endParaRPr sz="11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03" name="Google Shape;303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628"/>
        </a:solidFill>
      </p:bgPr>
    </p:bg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24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0A1628"/>
          </a:solidFill>
          <a:ln cap="flat" cmpd="sng" w="12600">
            <a:solidFill>
              <a:srgbClr val="0A16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p24"/>
          <p:cNvSpPr/>
          <p:nvPr/>
        </p:nvSpPr>
        <p:spPr>
          <a:xfrm>
            <a:off x="0" y="0"/>
            <a:ext cx="365400" cy="5143320"/>
          </a:xfrm>
          <a:prstGeom prst="rect">
            <a:avLst/>
          </a:prstGeom>
          <a:solidFill>
            <a:srgbClr val="E8A020"/>
          </a:solidFill>
          <a:ln cap="flat" cmpd="sng" w="12600">
            <a:solidFill>
              <a:srgbClr val="E8A0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1" name="Google Shape;311;p24"/>
          <p:cNvSpPr/>
          <p:nvPr/>
        </p:nvSpPr>
        <p:spPr>
          <a:xfrm>
            <a:off x="8778240" y="0"/>
            <a:ext cx="365400" cy="5143320"/>
          </a:xfrm>
          <a:prstGeom prst="rect">
            <a:avLst/>
          </a:prstGeom>
          <a:solidFill>
            <a:srgbClr val="E8A020"/>
          </a:solidFill>
          <a:ln cap="flat" cmpd="sng" w="12600">
            <a:solidFill>
              <a:srgbClr val="E8A0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12" name="Google Shape;312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749040" y="457200"/>
            <a:ext cx="1645560" cy="1371240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24"/>
          <p:cNvSpPr/>
          <p:nvPr/>
        </p:nvSpPr>
        <p:spPr>
          <a:xfrm>
            <a:off x="548640" y="1920240"/>
            <a:ext cx="8046360" cy="8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Merci de votre attention</a:t>
            </a:r>
            <a:endParaRPr b="0" sz="34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24"/>
          <p:cNvSpPr/>
          <p:nvPr/>
        </p:nvSpPr>
        <p:spPr>
          <a:xfrm>
            <a:off x="548640" y="4480560"/>
            <a:ext cx="8046360" cy="319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Système de Gestion de Flotte </a:t>
            </a:r>
            <a:r>
              <a:rPr lang="en-US" sz="1000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-</a:t>
            </a:r>
            <a:r>
              <a:rPr b="0" lang="en-US" sz="1000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 M1 GIL </a:t>
            </a:r>
            <a:r>
              <a:rPr lang="en-US" sz="1000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-</a:t>
            </a:r>
            <a:r>
              <a:rPr b="0" lang="en-US" sz="1000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 Université de Rouen </a:t>
            </a:r>
            <a:r>
              <a:rPr lang="en-US" sz="1000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-</a:t>
            </a:r>
            <a:r>
              <a:rPr b="0" lang="en-US" sz="1000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 2025</a:t>
            </a:r>
            <a:r>
              <a:rPr lang="en-US" sz="1000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b="0" lang="en-US" sz="1000" strike="noStrike">
                <a:solidFill>
                  <a:srgbClr val="8CA0BC"/>
                </a:solidFill>
                <a:latin typeface="Calibri"/>
                <a:ea typeface="Calibri"/>
                <a:cs typeface="Calibri"/>
                <a:sym typeface="Calibri"/>
              </a:rPr>
              <a:t>2026</a:t>
            </a:r>
            <a:endParaRPr b="0" sz="1000" strike="noStrik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