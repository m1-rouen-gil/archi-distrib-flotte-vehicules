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CrxE4ZXJQsI/A5WxqMCSg7Fy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3A73"/>
          </a:solidFill>
          <a:ln cap="flat" cmpd="sng" w="12700">
            <a:solidFill>
              <a:srgbClr val="0D3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1371600"/>
            <a:ext cx="182880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6400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Système de Gestion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13716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de Flotte Logistique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33172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Architecture Microservices · Docker · Kubernetes · Kafka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880360"/>
            <a:ext cx="1005840" cy="292608"/>
          </a:xfrm>
          <a:prstGeom prst="roundRect">
            <a:avLst>
              <a:gd fmla="val 15625" name="adj"/>
            </a:avLst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2880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664208" y="2880360"/>
            <a:ext cx="1005840" cy="292608"/>
          </a:xfrm>
          <a:prstGeom prst="roundRect">
            <a:avLst>
              <a:gd fmla="val 15625" name="adj"/>
            </a:avLst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664208" y="2880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79776" y="2880360"/>
            <a:ext cx="1005840" cy="292608"/>
          </a:xfrm>
          <a:prstGeom prst="roundRect">
            <a:avLst>
              <a:gd fmla="val 15625" name="adj"/>
            </a:avLst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779776" y="2880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Keycloak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895344" y="2880360"/>
            <a:ext cx="1005840" cy="292608"/>
          </a:xfrm>
          <a:prstGeom prst="roundRect">
            <a:avLst>
              <a:gd fmla="val 15625" name="adj"/>
            </a:avLst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895344" y="2880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10912" y="2880360"/>
            <a:ext cx="1005840" cy="292608"/>
          </a:xfrm>
          <a:prstGeom prst="roundRect">
            <a:avLst>
              <a:gd fmla="val 15625" name="adj"/>
            </a:avLst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010912" y="2880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gRPC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Master 1 GIL · Université de Rouen · 2025-2026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Encadrants : Lydia &amp; Luc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présentation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50" y="960125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50" y="960125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5750" y="116584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60110" y="1028697"/>
            <a:ext cx="3337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Contexte &amp; Objectifs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60110" y="1337269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Problématique, cas d'usage logistique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75" y="960124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54875" y="960124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75" y="1165849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49237" y="1028699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Architecture Technique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49237" y="1337286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5 microservices, API Gateway, Kafka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96325" y="2000375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96325" y="2000375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96325" y="2206137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90687" y="2068962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Services Développés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90687" y="2377605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Véhicules, Conducteurs, Maintenance, Localisation, Événements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09025" y="2000226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709025" y="2000226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709025" y="2205951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03387" y="2068801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Sécurité &amp; Observabilité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03387" y="2377389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Keycloak, RBAC, Prometheus, Grafana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96325" y="3017523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96325" y="3017523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96325" y="3223248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90687" y="3086098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Infrastructure &amp; CI/CD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90687" y="3394685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Docker, Kubernetes, Helm, GitHub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09025" y="3029098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709025" y="3029098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09025" y="323482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303387" y="3097673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Tests &amp; Qualité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303387" y="3406260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k6 · Playwright · JUnit · Testcontainers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22100" y="4057975"/>
            <a:ext cx="4023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522100" y="4057975"/>
            <a:ext cx="502800" cy="8229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522100" y="4263678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116460" y="4126543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Démonstration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116460" y="4435186"/>
            <a:ext cx="333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Scénarios live, métriques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Contexte &amp; Objectifs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0040" y="914400"/>
            <a:ext cx="3931920" cy="38862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Problématique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Gérer une flotte de centaines de camions en temps réel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2148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Traçabilité GPS et historique des déplacements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2743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 préventive et alertes automatisées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3337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Coordination conducteurs / dispatching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3931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Scalabilité face aux pics de charge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0" y="914400"/>
            <a:ext cx="42519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572000" y="914400"/>
            <a:ext cx="64008" cy="8229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754880" y="96926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Tracking GPS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Streaming temps réel gRPC + TimescaleDB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0" y="1874520"/>
            <a:ext cx="42519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2000" y="1874520"/>
            <a:ext cx="64008" cy="8229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754880" y="192938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Microservices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5 services indépendants et scalables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572000" y="2834640"/>
            <a:ext cx="42519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572000" y="2834640"/>
            <a:ext cx="64008" cy="8229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754880" y="288950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Sécurité Zero 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54880" y="32461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Keycloak SSO · RBAC · JWT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0" y="3794760"/>
            <a:ext cx="42519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572000" y="3794760"/>
            <a:ext cx="64008" cy="8229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754880" y="384962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754880" y="42062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Prometheus · Grafana · Jaeger · Loki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111E"/>
          </a:solidFill>
          <a:ln cap="flat" cmpd="sng" w="12700">
            <a:solidFill>
              <a:srgbClr val="0811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Architecture Microservices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429000" y="914400"/>
            <a:ext cx="2286000" cy="59436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429000" y="9144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React (Microfrontend)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26280" y="1508760"/>
            <a:ext cx="91440" cy="2743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926080" y="1783080"/>
            <a:ext cx="3291840" cy="5943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926080" y="17830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API Gateway (GraphQL + REST + gRPC)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20040" y="2743200"/>
            <a:ext cx="1508760" cy="59436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1590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20040" y="274320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Véhicules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020824" y="2743200"/>
            <a:ext cx="1508760" cy="59436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1590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020824" y="274320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Conducteurs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21608" y="2743200"/>
            <a:ext cx="1508760" cy="59436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1590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721608" y="274320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422392" y="2743200"/>
            <a:ext cx="1508760" cy="59436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1590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22392" y="274320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23176" y="2743200"/>
            <a:ext cx="1508760" cy="59436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1590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123176" y="274320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0040" y="3566160"/>
            <a:ext cx="8503920" cy="502920"/>
          </a:xfrm>
          <a:prstGeom prst="rect">
            <a:avLst/>
          </a:prstGeom>
          <a:solidFill>
            <a:srgbClr val="7B2D00"/>
          </a:solidFill>
          <a:ln cap="flat" cmpd="sng" w="12700">
            <a:solidFill>
              <a:srgbClr val="D4521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20040" y="356616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Kafka — Event Bus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4251960"/>
            <a:ext cx="2468880" cy="685800"/>
          </a:xfrm>
          <a:prstGeom prst="rect">
            <a:avLst/>
          </a:prstGeom>
          <a:solidFill>
            <a:srgbClr val="0A4A2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48640" y="42519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TimescaleDB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91840" y="4251960"/>
            <a:ext cx="2468880" cy="685800"/>
          </a:xfrm>
          <a:prstGeom prst="rect">
            <a:avLst/>
          </a:prstGeom>
          <a:solidFill>
            <a:srgbClr val="4A0A4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291840" y="42519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Keycloak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SSO · RBAC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035040" y="4251960"/>
            <a:ext cx="2468880" cy="685800"/>
          </a:xfrm>
          <a:prstGeom prst="rect">
            <a:avLst/>
          </a:prstGeom>
          <a:solidFill>
            <a:srgbClr val="0A2A4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035040" y="42519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OTel · Grafana · Jaeger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Loki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Services Développés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0040" y="914400"/>
            <a:ext cx="40233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0D5F9A"/>
          </a:solidFill>
          <a:ln cap="flat" cmpd="sng" w="12700">
            <a:solidFill>
              <a:srgbClr val="0D5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57200" y="960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Véhicules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1444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Spring Boot · 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1783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CRUD parc automobile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21305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Statuts, historique, disponibilité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24780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Événements Kafka producer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09160" y="914400"/>
            <a:ext cx="40233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709160" y="914400"/>
            <a:ext cx="4023360" cy="457200"/>
          </a:xfrm>
          <a:prstGeom prst="rect">
            <a:avLst/>
          </a:prstGeom>
          <a:solidFill>
            <a:srgbClr val="0D7A6A"/>
          </a:solidFill>
          <a:ln cap="flat" cmpd="sng" w="12700">
            <a:solidFill>
              <a:srgbClr val="0D7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846320" y="960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Conducteurs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846320" y="1444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A6A"/>
                </a:solidFill>
                <a:latin typeface="Calibri"/>
                <a:ea typeface="Calibri"/>
                <a:cs typeface="Calibri"/>
                <a:sym typeface="Calibri"/>
              </a:rPr>
              <a:t>Spring Boot · Java 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846320" y="1783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A6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Profils &amp; permis de conduire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846320" y="21305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A6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Assignation véhicule/mission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846320" y="24780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A6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Validation &amp; RBAC Keycloak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20040" y="2971800"/>
            <a:ext cx="40233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20040" y="2971800"/>
            <a:ext cx="4023360" cy="457200"/>
          </a:xfrm>
          <a:prstGeom prst="rect">
            <a:avLst/>
          </a:prstGeom>
          <a:solidFill>
            <a:srgbClr val="7A4D0D"/>
          </a:solidFill>
          <a:ln cap="flat" cmpd="sng" w="12700">
            <a:solidFill>
              <a:srgbClr val="7A4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3502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D0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4D0D"/>
                </a:solidFill>
                <a:latin typeface="Calibri"/>
                <a:ea typeface="Calibri"/>
                <a:cs typeface="Calibri"/>
                <a:sym typeface="Calibri"/>
              </a:rPr>
              <a:t>Spring Boot · Java 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3840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4D0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Planification interventions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" y="41879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4D0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Alertes préventives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5354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4D0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Saga pattern inter-services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709160" y="2971800"/>
            <a:ext cx="40233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709160" y="2971800"/>
            <a:ext cx="4023360" cy="457200"/>
          </a:xfrm>
          <a:prstGeom prst="rect">
            <a:avLst/>
          </a:prstGeom>
          <a:solidFill>
            <a:srgbClr val="6A0D7A"/>
          </a:solidFill>
          <a:ln cap="flat" cmpd="sng" w="12700">
            <a:solidFill>
              <a:srgbClr val="6A0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846320" y="3017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Localisation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846320" y="3502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0D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0D7A"/>
                </a:solidFill>
                <a:latin typeface="Calibri"/>
                <a:ea typeface="Calibri"/>
                <a:cs typeface="Calibri"/>
                <a:sym typeface="Calibri"/>
              </a:rPr>
              <a:t>gRPC · TimescaleDB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846320" y="3840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0D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0D7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Streaming GPS temps réel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846320" y="41879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0D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0D7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Historique time-series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846320" y="45354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0D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0D7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Géofencing &amp; alertes zones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Sécurité &amp; Observabilité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20040" y="914400"/>
            <a:ext cx="3977640" cy="3931920"/>
          </a:xfrm>
          <a:prstGeom prst="rect">
            <a:avLst/>
          </a:prstGeom>
          <a:solidFill>
            <a:srgbClr val="1A0A2E"/>
          </a:solidFill>
          <a:ln cap="flat" cmpd="sng" w="12700">
            <a:solidFill>
              <a:srgbClr val="1A0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🔐 Sécurité — Zero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15087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Keycloak 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17647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Authentification centralisée OAuth2/OIDC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2148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24048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3 rôles : Admin · Manager · Technicien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2788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57200" y="3044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Tokens signés, validation par chaque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3429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mTLS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3685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Chiffrement inter-services mutual 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40690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Secrets K8s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4325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Aucun secret en clair dans le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📊 Observabilité — 3 Piliers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709160" y="1508760"/>
            <a:ext cx="64008" cy="914400"/>
          </a:xfrm>
          <a:prstGeom prst="rect">
            <a:avLst/>
          </a:prstGeom>
          <a:solidFill>
            <a:srgbClr val="E05A00"/>
          </a:solidFill>
          <a:ln cap="flat" cmpd="sng" w="12700">
            <a:solidFill>
              <a:srgbClr val="E0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892040" y="15270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A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5A00"/>
                </a:solidFill>
                <a:latin typeface="Calibri"/>
                <a:ea typeface="Calibri"/>
                <a:cs typeface="Calibri"/>
                <a:sym typeface="Calibri"/>
              </a:rPr>
              <a:t>Traces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92040" y="181965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Jaeger + OpenTelemetry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892040" y="20574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Traçage distribué des requêtes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892040" y="22585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Debug inter-services visuel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709160" y="2606040"/>
            <a:ext cx="64008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892040" y="26243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Métriques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892040" y="291693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Prometheus + Grafana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31546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RED metrics · 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892040" y="33558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Alertes seuils métier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709160" y="3703320"/>
            <a:ext cx="64008" cy="9144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892040" y="37216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892040" y="401421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Loki + Correlation 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92040" y="42519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Logs JSON structurés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92040" y="445312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Recherche centralisée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111E"/>
          </a:solidFill>
          <a:ln cap="flat" cmpd="sng" w="12700">
            <a:solidFill>
              <a:srgbClr val="0811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Infrastructure &amp; CI/CD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Pipeline CI/CD — GitHub 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" y="1371600"/>
            <a:ext cx="1417320" cy="1005840"/>
          </a:xfrm>
          <a:prstGeom prst="rect">
            <a:avLst/>
          </a:prstGeom>
          <a:solidFill>
            <a:srgbClr val="1D7A1D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57200" y="13716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87452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148840" y="1371600"/>
            <a:ext cx="1417320" cy="100584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2148840" y="13716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&gt;80%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56616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840480" y="1371600"/>
            <a:ext cx="1417320" cy="1005840"/>
          </a:xfrm>
          <a:prstGeom prst="rect">
            <a:avLst/>
          </a:prstGeom>
          <a:solidFill>
            <a:srgbClr val="0D6E9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3840480" y="13716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25780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532120" y="1371600"/>
            <a:ext cx="1417320" cy="1005840"/>
          </a:xfrm>
          <a:prstGeom prst="rect">
            <a:avLst/>
          </a:prstGeom>
          <a:solidFill>
            <a:srgbClr val="7A4D0D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532120" y="13716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94944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23760" y="1371600"/>
            <a:ext cx="1417320" cy="1005840"/>
          </a:xfrm>
          <a:prstGeom prst="rect">
            <a:avLst/>
          </a:prstGeom>
          <a:solidFill>
            <a:srgbClr val="6A0D7A"/>
          </a:solidFill>
          <a:ln cap="flat" cmpd="sng" w="12700">
            <a:solidFill>
              <a:srgbClr val="8CA0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223760" y="13716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Helm K8s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Déploiement Kubernetes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65760" y="3108960"/>
            <a:ext cx="1965960" cy="17373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5720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Namespaces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Isolation par environnement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57200" y="40050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(dev · staging · prod)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514600" y="3108960"/>
            <a:ext cx="1965960" cy="17373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60604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Helm 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60604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Versionning déploiements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606040" y="40050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Rollback automatique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663440" y="3108960"/>
            <a:ext cx="1965960" cy="17373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75488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ConfigMaps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&amp; Secrets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75488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Configuration externalisée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754880" y="40050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Secrets chiffrés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812280" y="3108960"/>
            <a:ext cx="1965960" cy="17373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90372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Ingress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90372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Routing &amp; Load balancing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903720" y="40050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Load balancing &amp; 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Tests &amp; Qualité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20040" y="914400"/>
            <a:ext cx="3977640" cy="3931920"/>
          </a:xfrm>
          <a:prstGeom prst="rect">
            <a:avLst/>
          </a:prstGeom>
          <a:solidFill>
            <a:srgbClr val="1A0A2E"/>
          </a:solidFill>
          <a:ln cap="flat" cmpd="sng" w="12700">
            <a:solidFill>
              <a:srgbClr val="1A0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✅ Tests Unitaires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57200" y="15087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JUnit 5 + Mockito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57200" y="17647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Spring Boot — 80% couverture (JaCoCo)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57200" y="2148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Jest + Supertest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57200" y="24048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NestJS — 80% couverture (Istanbul)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57200" y="2788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Tests d'Intégration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57200" y="3044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Testcontainers · BDD + Kafka réels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57200" y="3429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MockMvc · Supertest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57200" y="3685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API et contrats inter-services vérifiés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7200" y="40690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Couverture globale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57200" y="4325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80% mesurée · rapport automatique 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🌐 Tests E2E &amp; Charge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709160" y="1508760"/>
            <a:ext cx="64008" cy="914400"/>
          </a:xfrm>
          <a:prstGeom prst="rect">
            <a:avLst/>
          </a:prstGeom>
          <a:solidFill>
            <a:srgbClr val="E05A00"/>
          </a:solidFill>
          <a:ln cap="flat" cmpd="sng" w="12700">
            <a:solidFill>
              <a:srgbClr val="E0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892040" y="15270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A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5A00"/>
                </a:solidFill>
                <a:latin typeface="Calibri"/>
                <a:ea typeface="Calibri"/>
                <a:cs typeface="Calibri"/>
                <a:sym typeface="Calibri"/>
              </a:rPr>
              <a:t>End-to-End — Playwright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892040" y="181965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Playwright · parcours utilisateur complets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92040" y="20574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Auth Keycloak → CRUD → assertions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892040" y="22585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Intégré au pipeline CI (bloquant avant deploy)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709160" y="2606040"/>
            <a:ext cx="64008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892040" y="26243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Tests de Charge — k6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892040" y="291693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500 véhicules GPS en simultané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892040" y="31546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P95 &lt; 200 ms · rapport HTML k6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892040" y="33558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RPS · erreurs · latence par 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09160" y="3703320"/>
            <a:ext cx="64008" cy="9144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892040" y="37216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Résultats &amp; Qualité CI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92040" y="401421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Badge couverture dans chaque PR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92040" y="42519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Résultats &amp; Qualité CI JSON structurés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92040" y="445312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lint → test → build →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Technologique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20040" y="91440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320040" y="914400"/>
            <a:ext cx="64008" cy="777240"/>
          </a:xfrm>
          <a:prstGeom prst="rect">
            <a:avLst/>
          </a:prstGeom>
          <a:solidFill>
            <a:srgbClr val="0D5F9A"/>
          </a:solidFill>
          <a:ln cap="flat" cmpd="sng" w="12700">
            <a:solidFill>
              <a:srgbClr val="0D5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02920" y="9601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Spring Boot (Java 21) · Node.js / NestJS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709160" y="91440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709160" y="914400"/>
            <a:ext cx="64008" cy="777240"/>
          </a:xfrm>
          <a:prstGeom prst="rect">
            <a:avLst/>
          </a:prstGeom>
          <a:solidFill>
            <a:srgbClr val="0D7A6A"/>
          </a:solidFill>
          <a:ln cap="flat" cmpd="sng" w="12700">
            <a:solidFill>
              <a:srgbClr val="0D7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892040" y="9601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A6A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892040" y="12801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PostgreSQL · Redis · TimescaleDB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20040" y="187452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320040" y="1874520"/>
            <a:ext cx="64008" cy="777240"/>
          </a:xfrm>
          <a:prstGeom prst="rect">
            <a:avLst/>
          </a:prstGeom>
          <a:solidFill>
            <a:srgbClr val="7A4D0D"/>
          </a:solidFill>
          <a:ln cap="flat" cmpd="sng" w="12700">
            <a:solidFill>
              <a:srgbClr val="7A4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02920" y="19202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4D0D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02920" y="22402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REST · GraphQL · gRPC · Apache Kafka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709160" y="187452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4709160" y="1874520"/>
            <a:ext cx="64008" cy="777240"/>
          </a:xfrm>
          <a:prstGeom prst="rect">
            <a:avLst/>
          </a:prstGeom>
          <a:solidFill>
            <a:srgbClr val="6A0D7A"/>
          </a:solidFill>
          <a:ln cap="flat" cmpd="sng" w="12700">
            <a:solidFill>
              <a:srgbClr val="6A0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4892040" y="19202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0D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0D7A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892040" y="22402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Keycloak · JWT · RBAC · mTLS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20040" y="283464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20040" y="2834640"/>
            <a:ext cx="64008" cy="777240"/>
          </a:xfrm>
          <a:prstGeom prst="rect">
            <a:avLst/>
          </a:prstGeom>
          <a:solidFill>
            <a:srgbClr val="0D5F9A"/>
          </a:solidFill>
          <a:ln cap="flat" cmpd="sng" w="12700">
            <a:solidFill>
              <a:srgbClr val="0D5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02920" y="2880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F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5F9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0292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React · Vite Module Federation · Playwright E2E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709160" y="283464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709160" y="2834640"/>
            <a:ext cx="64008" cy="777240"/>
          </a:xfrm>
          <a:prstGeom prst="rect">
            <a:avLst/>
          </a:prstGeom>
          <a:solidFill>
            <a:srgbClr val="7A0D0D"/>
          </a:solidFill>
          <a:ln cap="flat" cmpd="sng" w="12700">
            <a:solidFill>
              <a:srgbClr val="7A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892040" y="2880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0D0D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89204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OpenTelemetry · Jaeger · Prometheus · Grafana · Loki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286000" y="3794760"/>
            <a:ext cx="45720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286000" y="3794760"/>
            <a:ext cx="64008" cy="777240"/>
          </a:xfrm>
          <a:prstGeom prst="rect">
            <a:avLst/>
          </a:prstGeom>
          <a:solidFill>
            <a:srgbClr val="2A5A0D"/>
          </a:solidFill>
          <a:ln cap="flat" cmpd="sng" w="12700">
            <a:solidFill>
              <a:srgbClr val="2A5A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2468880" y="38404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5A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5A0D"/>
                </a:solidFill>
                <a:latin typeface="Calibri"/>
                <a:ea typeface="Calibri"/>
                <a:cs typeface="Calibri"/>
                <a:sym typeface="Calibri"/>
              </a:rPr>
              <a:t>Infra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2468880" y="41605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Docker · Kubernetes · Helm · GitHub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&amp; Compétences acquises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57200" y="960120"/>
            <a:ext cx="1828800" cy="11887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457200" y="10058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57200" y="1600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Microservices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développés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514600" y="960120"/>
            <a:ext cx="1828800" cy="11887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2514600" y="10058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514600" y="1600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Semaines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de sprint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572000" y="960120"/>
            <a:ext cx="1828800" cy="11887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4572000" y="10058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572000" y="1600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Couverture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de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629400" y="960120"/>
            <a:ext cx="1828800" cy="11887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6629400" y="10058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629400" y="1600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Piliers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65760" y="2331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Compétences clés démontrées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65760" y="2743200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65760" y="2743200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48640" y="27432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Architecture microservices distribuée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754880" y="2743200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937760" y="27432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Conteneurisation Docker &amp; orchestration K8s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65760" y="3401568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65760" y="3401568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48640" y="340156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Event-driven avec Apache Kafka (saga chorégraphie)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754880" y="3401568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4754880" y="3401568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937760" y="340156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Sécurité Zero Trust avec Keycloak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65760" y="4059936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365760" y="4059936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548640" y="4059936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Observabilité full-stack (traces, métriques, logs)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754880" y="4059936"/>
            <a:ext cx="4023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754880" y="4059936"/>
            <a:ext cx="64008" cy="5486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937760" y="4059936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Pipeline CI/CD automatisé GitHub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457200"/>
            <a:ext cx="164592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Questions &amp; Démonstration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BC"/>
                </a:solidFill>
                <a:latin typeface="Calibri"/>
                <a:ea typeface="Calibri"/>
                <a:cs typeface="Calibri"/>
                <a:sym typeface="Calibri"/>
              </a:rPr>
              <a:t>Système de Gestion de Flotte Logistique · M1 GIL · Université de Rouen · 2025-2026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2026-04-24T09:24:05Z</dcterms:created>
  <dc:creator>PptxGenJS</dc:creator>
</cp:coreProperties>
</file>