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" name="Google Shape;62;p1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2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3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3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4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8" name="Google Shape;158;p4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4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5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6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0" name="Google Shape;230;p6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6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7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7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7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8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5" name="Google Shape;305;p8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8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9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1" name="Google Shape;341;p9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9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0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6" name="Google Shape;376;p10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0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1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4" name="Google Shape;414;p11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1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2"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/>
          <p:nvPr>
            <p:ph idx="1"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8"/>
          <p:cNvSpPr txBox="1"/>
          <p:nvPr>
            <p:ph idx="1"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8"/>
          <p:cNvSpPr txBox="1"/>
          <p:nvPr>
            <p:ph idx="2"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3"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9"/>
          <p:cNvSpPr txBox="1"/>
          <p:nvPr>
            <p:ph idx="1"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9"/>
          <p:cNvSpPr txBox="1"/>
          <p:nvPr>
            <p:ph idx="2"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9"/>
          <p:cNvSpPr txBox="1"/>
          <p:nvPr>
            <p:ph idx="3"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0"/>
          <p:cNvSpPr txBox="1"/>
          <p:nvPr>
            <p:ph idx="1"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0"/>
          <p:cNvSpPr txBox="1"/>
          <p:nvPr>
            <p:ph idx="2"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idx="3"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1"/>
          <p:cNvSpPr txBox="1"/>
          <p:nvPr>
            <p:ph idx="2"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2"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2"/>
          <p:cNvSpPr txBox="1"/>
          <p:nvPr>
            <p:ph idx="3"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2"/>
          <p:cNvSpPr txBox="1"/>
          <p:nvPr>
            <p:ph idx="4"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2"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3"/>
          <p:cNvSpPr txBox="1"/>
          <p:nvPr>
            <p:ph idx="3"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3"/>
          <p:cNvSpPr txBox="1"/>
          <p:nvPr>
            <p:ph idx="4"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3"/>
          <p:cNvSpPr txBox="1"/>
          <p:nvPr>
            <p:ph idx="5"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6"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>
            <a:off x="0" y="0"/>
            <a:ext cx="319680" cy="514332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4"/>
          <p:cNvSpPr/>
          <p:nvPr/>
        </p:nvSpPr>
        <p:spPr>
          <a:xfrm>
            <a:off x="6583680" y="0"/>
            <a:ext cx="2559960" cy="5143320"/>
          </a:xfrm>
          <a:prstGeom prst="rect">
            <a:avLst/>
          </a:prstGeom>
          <a:solidFill>
            <a:srgbClr val="0D2B55"/>
          </a:solidFill>
          <a:ln cap="flat" cmpd="sng" w="12600">
            <a:solidFill>
              <a:srgbClr val="0D2B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4"/>
          <p:cNvSpPr/>
          <p:nvPr/>
        </p:nvSpPr>
        <p:spPr>
          <a:xfrm>
            <a:off x="7772400" y="0"/>
            <a:ext cx="1371240" cy="5143320"/>
          </a:xfrm>
          <a:prstGeom prst="rect">
            <a:avLst/>
          </a:prstGeom>
          <a:solidFill>
            <a:srgbClr val="0D3A73"/>
          </a:solidFill>
          <a:ln cap="flat" cmpd="sng" w="12600">
            <a:solidFill>
              <a:srgbClr val="0D3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8" name="Google Shape;6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66560" y="1371600"/>
            <a:ext cx="1828440" cy="155412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/>
          <p:nvPr/>
        </p:nvSpPr>
        <p:spPr>
          <a:xfrm>
            <a:off x="548640" y="640080"/>
            <a:ext cx="5851800" cy="8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Système de Gestion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4"/>
          <p:cNvSpPr/>
          <p:nvPr/>
        </p:nvSpPr>
        <p:spPr>
          <a:xfrm>
            <a:off x="548640" y="1371600"/>
            <a:ext cx="5851800" cy="8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de Flotte Logistique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548640" y="2331720"/>
            <a:ext cx="585180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Architecture Microservices · Docker · Kubernetes · Kafka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/>
          <p:nvPr/>
        </p:nvSpPr>
        <p:spPr>
          <a:xfrm>
            <a:off x="548640" y="2880360"/>
            <a:ext cx="1005480" cy="292320"/>
          </a:xfrm>
          <a:prstGeom prst="roundRect">
            <a:avLst>
              <a:gd fmla="val 15625" name="adj"/>
            </a:avLst>
          </a:prstGeom>
          <a:solidFill>
            <a:srgbClr val="1A3A6B"/>
          </a:solidFill>
          <a:ln cap="flat" cmpd="sng" w="12600">
            <a:solidFill>
              <a:srgbClr val="1A3A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4"/>
          <p:cNvSpPr/>
          <p:nvPr/>
        </p:nvSpPr>
        <p:spPr>
          <a:xfrm>
            <a:off x="548640" y="2880360"/>
            <a:ext cx="10054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Spring Boot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4"/>
          <p:cNvSpPr/>
          <p:nvPr/>
        </p:nvSpPr>
        <p:spPr>
          <a:xfrm>
            <a:off x="1664280" y="2880360"/>
            <a:ext cx="1005480" cy="292320"/>
          </a:xfrm>
          <a:prstGeom prst="roundRect">
            <a:avLst>
              <a:gd fmla="val 15625" name="adj"/>
            </a:avLst>
          </a:prstGeom>
          <a:solidFill>
            <a:srgbClr val="1A3A6B"/>
          </a:solidFill>
          <a:ln cap="flat" cmpd="sng" w="12600">
            <a:solidFill>
              <a:srgbClr val="1A3A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4"/>
          <p:cNvSpPr/>
          <p:nvPr/>
        </p:nvSpPr>
        <p:spPr>
          <a:xfrm>
            <a:off x="1664280" y="2880360"/>
            <a:ext cx="10054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Node.js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/>
          <p:nvPr/>
        </p:nvSpPr>
        <p:spPr>
          <a:xfrm>
            <a:off x="2779920" y="2880360"/>
            <a:ext cx="1005480" cy="292320"/>
          </a:xfrm>
          <a:prstGeom prst="roundRect">
            <a:avLst>
              <a:gd fmla="val 15625" name="adj"/>
            </a:avLst>
          </a:prstGeom>
          <a:solidFill>
            <a:srgbClr val="1A3A6B"/>
          </a:solidFill>
          <a:ln cap="flat" cmpd="sng" w="12600">
            <a:solidFill>
              <a:srgbClr val="1A3A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4"/>
          <p:cNvSpPr/>
          <p:nvPr/>
        </p:nvSpPr>
        <p:spPr>
          <a:xfrm>
            <a:off x="2779920" y="2880360"/>
            <a:ext cx="10054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Keycloak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4"/>
          <p:cNvSpPr/>
          <p:nvPr/>
        </p:nvSpPr>
        <p:spPr>
          <a:xfrm>
            <a:off x="3895200" y="2880360"/>
            <a:ext cx="1005480" cy="292320"/>
          </a:xfrm>
          <a:prstGeom prst="roundRect">
            <a:avLst>
              <a:gd fmla="val 15625" name="adj"/>
            </a:avLst>
          </a:prstGeom>
          <a:solidFill>
            <a:srgbClr val="1A3A6B"/>
          </a:solidFill>
          <a:ln cap="flat" cmpd="sng" w="12600">
            <a:solidFill>
              <a:srgbClr val="1A3A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4"/>
          <p:cNvSpPr/>
          <p:nvPr/>
        </p:nvSpPr>
        <p:spPr>
          <a:xfrm>
            <a:off x="3895200" y="2880360"/>
            <a:ext cx="10054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Grafana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4"/>
          <p:cNvSpPr/>
          <p:nvPr/>
        </p:nvSpPr>
        <p:spPr>
          <a:xfrm>
            <a:off x="5010840" y="2880360"/>
            <a:ext cx="1005480" cy="292320"/>
          </a:xfrm>
          <a:prstGeom prst="roundRect">
            <a:avLst>
              <a:gd fmla="val 15625" name="adj"/>
            </a:avLst>
          </a:prstGeom>
          <a:solidFill>
            <a:srgbClr val="1A3A6B"/>
          </a:solidFill>
          <a:ln cap="flat" cmpd="sng" w="12600">
            <a:solidFill>
              <a:srgbClr val="1A3A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4"/>
          <p:cNvSpPr/>
          <p:nvPr/>
        </p:nvSpPr>
        <p:spPr>
          <a:xfrm>
            <a:off x="5010840" y="2880360"/>
            <a:ext cx="10054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gRPC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4"/>
          <p:cNvSpPr/>
          <p:nvPr/>
        </p:nvSpPr>
        <p:spPr>
          <a:xfrm>
            <a:off x="548640" y="4389120"/>
            <a:ext cx="548604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Master 1 GIL · Université de Rouen · 2025-2026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4"/>
          <p:cNvSpPr/>
          <p:nvPr/>
        </p:nvSpPr>
        <p:spPr>
          <a:xfrm>
            <a:off x="548640" y="4663440"/>
            <a:ext cx="54860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Encadrants : Lydia &amp; Luc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5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5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Plan de présentation</a:t>
            </a:r>
            <a:endParaRPr b="0" i="0" sz="2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5"/>
          <p:cNvSpPr/>
          <p:nvPr/>
        </p:nvSpPr>
        <p:spPr>
          <a:xfrm>
            <a:off x="365760" y="960120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5"/>
          <p:cNvSpPr/>
          <p:nvPr/>
        </p:nvSpPr>
        <p:spPr>
          <a:xfrm>
            <a:off x="365760" y="960120"/>
            <a:ext cx="50256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5"/>
          <p:cNvSpPr/>
          <p:nvPr/>
        </p:nvSpPr>
        <p:spPr>
          <a:xfrm>
            <a:off x="365760" y="1165680"/>
            <a:ext cx="50256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5"/>
          <p:cNvSpPr/>
          <p:nvPr/>
        </p:nvSpPr>
        <p:spPr>
          <a:xfrm>
            <a:off x="960120" y="1028520"/>
            <a:ext cx="333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Contexte &amp; Objectifs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5"/>
          <p:cNvSpPr/>
          <p:nvPr/>
        </p:nvSpPr>
        <p:spPr>
          <a:xfrm>
            <a:off x="960120" y="1337400"/>
            <a:ext cx="3337200" cy="342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Problématique, cas d'usage logistique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5"/>
          <p:cNvSpPr/>
          <p:nvPr/>
        </p:nvSpPr>
        <p:spPr>
          <a:xfrm>
            <a:off x="4754880" y="960120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5"/>
          <p:cNvSpPr/>
          <p:nvPr/>
        </p:nvSpPr>
        <p:spPr>
          <a:xfrm>
            <a:off x="4754880" y="960120"/>
            <a:ext cx="50256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5"/>
          <p:cNvSpPr/>
          <p:nvPr/>
        </p:nvSpPr>
        <p:spPr>
          <a:xfrm>
            <a:off x="4754880" y="1165680"/>
            <a:ext cx="50256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5"/>
          <p:cNvSpPr/>
          <p:nvPr/>
        </p:nvSpPr>
        <p:spPr>
          <a:xfrm>
            <a:off x="5349240" y="1028520"/>
            <a:ext cx="33372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Architecture Technique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5349240" y="1337400"/>
            <a:ext cx="3337200" cy="342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5 microservices, API Gateway, Kafka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5"/>
          <p:cNvSpPr/>
          <p:nvPr/>
        </p:nvSpPr>
        <p:spPr>
          <a:xfrm>
            <a:off x="396360" y="2000520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5"/>
          <p:cNvSpPr/>
          <p:nvPr/>
        </p:nvSpPr>
        <p:spPr>
          <a:xfrm>
            <a:off x="396360" y="2000520"/>
            <a:ext cx="50256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396360" y="2206080"/>
            <a:ext cx="50256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5"/>
          <p:cNvSpPr/>
          <p:nvPr/>
        </p:nvSpPr>
        <p:spPr>
          <a:xfrm>
            <a:off x="990720" y="2068920"/>
            <a:ext cx="33372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Services Développés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5"/>
          <p:cNvSpPr/>
          <p:nvPr/>
        </p:nvSpPr>
        <p:spPr>
          <a:xfrm>
            <a:off x="990720" y="2377440"/>
            <a:ext cx="3337200" cy="342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Véhicules, Conducteurs, Maintenance, Localisation, Événements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5"/>
          <p:cNvSpPr/>
          <p:nvPr/>
        </p:nvSpPr>
        <p:spPr>
          <a:xfrm>
            <a:off x="4709160" y="2000160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5"/>
          <p:cNvSpPr/>
          <p:nvPr/>
        </p:nvSpPr>
        <p:spPr>
          <a:xfrm>
            <a:off x="4709160" y="2000160"/>
            <a:ext cx="50256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4709160" y="2206080"/>
            <a:ext cx="50256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5"/>
          <p:cNvSpPr/>
          <p:nvPr/>
        </p:nvSpPr>
        <p:spPr>
          <a:xfrm>
            <a:off x="5303520" y="2068920"/>
            <a:ext cx="33372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Sécurité &amp; Observabilité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5"/>
          <p:cNvSpPr/>
          <p:nvPr/>
        </p:nvSpPr>
        <p:spPr>
          <a:xfrm>
            <a:off x="5303520" y="2377440"/>
            <a:ext cx="3337200" cy="342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Keycloak, RBAC, Prometheus, Grafana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396360" y="3017520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396360" y="3017520"/>
            <a:ext cx="50256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396360" y="3223080"/>
            <a:ext cx="50256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990720" y="3085920"/>
            <a:ext cx="33372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Infrastructure &amp; CI/CD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990720" y="3394800"/>
            <a:ext cx="3337200" cy="342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Docker, Kubernetes, Helm, GitHub Actions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4709160" y="3029040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5"/>
          <p:cNvSpPr/>
          <p:nvPr/>
        </p:nvSpPr>
        <p:spPr>
          <a:xfrm>
            <a:off x="4709160" y="3029040"/>
            <a:ext cx="50256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4709160" y="3234960"/>
            <a:ext cx="50256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5"/>
          <p:cNvSpPr/>
          <p:nvPr/>
        </p:nvSpPr>
        <p:spPr>
          <a:xfrm>
            <a:off x="5303520" y="3097800"/>
            <a:ext cx="33372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Tests &amp; Qualité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5"/>
          <p:cNvSpPr/>
          <p:nvPr/>
        </p:nvSpPr>
        <p:spPr>
          <a:xfrm>
            <a:off x="5303520" y="3406320"/>
            <a:ext cx="3337200" cy="342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k6 · Playwright · JUnit · Testcontainers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5"/>
          <p:cNvSpPr/>
          <p:nvPr/>
        </p:nvSpPr>
        <p:spPr>
          <a:xfrm>
            <a:off x="2522160" y="4057920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5"/>
          <p:cNvSpPr/>
          <p:nvPr/>
        </p:nvSpPr>
        <p:spPr>
          <a:xfrm>
            <a:off x="2522160" y="4057920"/>
            <a:ext cx="50256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2522160" y="4263840"/>
            <a:ext cx="50256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5"/>
          <p:cNvSpPr/>
          <p:nvPr/>
        </p:nvSpPr>
        <p:spPr>
          <a:xfrm>
            <a:off x="3116520" y="4126680"/>
            <a:ext cx="33372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Démonstration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5"/>
          <p:cNvSpPr/>
          <p:nvPr/>
        </p:nvSpPr>
        <p:spPr>
          <a:xfrm>
            <a:off x="3116520" y="4435200"/>
            <a:ext cx="3337200" cy="342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Scénarios live, métriques temps réel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6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6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 · Contexte &amp; Objectifs</a:t>
            </a:r>
            <a:endParaRPr b="0" i="0" sz="2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320040" y="914400"/>
            <a:ext cx="3931560" cy="3885840"/>
          </a:xfrm>
          <a:prstGeom prst="rect">
            <a:avLst/>
          </a:prstGeom>
          <a:solidFill>
            <a:srgbClr val="0D2B55"/>
          </a:solidFill>
          <a:ln cap="flat" cmpd="sng" w="12600">
            <a:solidFill>
              <a:srgbClr val="0D2B55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6"/>
          <p:cNvSpPr/>
          <p:nvPr/>
        </p:nvSpPr>
        <p:spPr>
          <a:xfrm>
            <a:off x="457200" y="1051560"/>
            <a:ext cx="365724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Problématique</a:t>
            </a:r>
            <a:endParaRPr b="0" i="0" sz="15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457200" y="1554480"/>
            <a:ext cx="36572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▶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Gérer une flotte de centaines de camions en temps réel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457200" y="2148840"/>
            <a:ext cx="36572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▶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Traçabilité GPS et historique des déplacements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457200" y="2743200"/>
            <a:ext cx="36572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▶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Maintenance préventive et alertes automatisées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457200" y="3337560"/>
            <a:ext cx="36572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▶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Coordination conducteurs / dispatching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457200" y="3931920"/>
            <a:ext cx="36572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▶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Scalabilité face aux pics de charge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4572000" y="914400"/>
            <a:ext cx="42516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4572000" y="914400"/>
            <a:ext cx="6372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6"/>
          <p:cNvSpPr/>
          <p:nvPr/>
        </p:nvSpPr>
        <p:spPr>
          <a:xfrm>
            <a:off x="4754880" y="969120"/>
            <a:ext cx="393156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Tracking GPS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4754880" y="1325880"/>
            <a:ext cx="393156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Streaming temps réel gRPC + TimescaleDB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4572000" y="1874520"/>
            <a:ext cx="42516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6"/>
          <p:cNvSpPr/>
          <p:nvPr/>
        </p:nvSpPr>
        <p:spPr>
          <a:xfrm>
            <a:off x="4572000" y="1874520"/>
            <a:ext cx="6372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4754880" y="1929240"/>
            <a:ext cx="393156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Microservices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4754880" y="2286000"/>
            <a:ext cx="393156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5 services indépendants et scalables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4572000" y="2834640"/>
            <a:ext cx="42516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6"/>
          <p:cNvSpPr/>
          <p:nvPr/>
        </p:nvSpPr>
        <p:spPr>
          <a:xfrm>
            <a:off x="4572000" y="2834640"/>
            <a:ext cx="6372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6"/>
          <p:cNvSpPr/>
          <p:nvPr/>
        </p:nvSpPr>
        <p:spPr>
          <a:xfrm>
            <a:off x="4754880" y="2889360"/>
            <a:ext cx="393156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Sécurité Zero Trust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4754880" y="3246120"/>
            <a:ext cx="393156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Keycloak SSO · RBAC · JWT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4572000" y="3794760"/>
            <a:ext cx="42516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6"/>
          <p:cNvSpPr/>
          <p:nvPr/>
        </p:nvSpPr>
        <p:spPr>
          <a:xfrm>
            <a:off x="4572000" y="3794760"/>
            <a:ext cx="6372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4754880" y="3849480"/>
            <a:ext cx="393156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Observabilité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6"/>
          <p:cNvSpPr/>
          <p:nvPr/>
        </p:nvSpPr>
        <p:spPr>
          <a:xfrm>
            <a:off x="4754880" y="4206240"/>
            <a:ext cx="393156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Prometheus · Grafana · Jaeger · Loki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7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8111E"/>
          </a:solidFill>
          <a:ln cap="flat" cmpd="sng" w="12600">
            <a:solidFill>
              <a:srgbClr val="0811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7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 · Architecture Microservices</a:t>
            </a:r>
            <a:endParaRPr b="0" i="0" sz="2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3429000" y="914400"/>
            <a:ext cx="2285640" cy="594000"/>
          </a:xfrm>
          <a:prstGeom prst="rect">
            <a:avLst/>
          </a:prstGeom>
          <a:solidFill>
            <a:srgbClr val="1A3A6B"/>
          </a:solidFill>
          <a:ln cap="flat" cmpd="sng" w="126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7"/>
          <p:cNvSpPr/>
          <p:nvPr/>
        </p:nvSpPr>
        <p:spPr>
          <a:xfrm>
            <a:off x="3429000" y="914400"/>
            <a:ext cx="228564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Frontend React (Microfrontend)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7"/>
          <p:cNvSpPr/>
          <p:nvPr/>
        </p:nvSpPr>
        <p:spPr>
          <a:xfrm>
            <a:off x="4526280" y="1508760"/>
            <a:ext cx="91080" cy="27396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7"/>
          <p:cNvSpPr/>
          <p:nvPr/>
        </p:nvSpPr>
        <p:spPr>
          <a:xfrm>
            <a:off x="2926080" y="1783080"/>
            <a:ext cx="3291480" cy="5940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7"/>
          <p:cNvSpPr/>
          <p:nvPr/>
        </p:nvSpPr>
        <p:spPr>
          <a:xfrm>
            <a:off x="2926080" y="1783080"/>
            <a:ext cx="329148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API Gateway (GraphQL + REST + gRPC)</a:t>
            </a:r>
            <a:endParaRPr b="0" i="0" sz="1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320040" y="2743200"/>
            <a:ext cx="1508400" cy="59400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1590C4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7"/>
          <p:cNvSpPr/>
          <p:nvPr/>
        </p:nvSpPr>
        <p:spPr>
          <a:xfrm>
            <a:off x="320040" y="2743200"/>
            <a:ext cx="1508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Véhicules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2020680" y="2743200"/>
            <a:ext cx="1508400" cy="59400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1590C4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7"/>
          <p:cNvSpPr/>
          <p:nvPr/>
        </p:nvSpPr>
        <p:spPr>
          <a:xfrm>
            <a:off x="2020680" y="2743200"/>
            <a:ext cx="1508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Conducteurs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3721680" y="2743200"/>
            <a:ext cx="1508400" cy="59400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1590C4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7"/>
          <p:cNvSpPr/>
          <p:nvPr/>
        </p:nvSpPr>
        <p:spPr>
          <a:xfrm>
            <a:off x="3721680" y="2743200"/>
            <a:ext cx="1508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Maintenance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5422320" y="2743200"/>
            <a:ext cx="1508400" cy="59400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1590C4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7"/>
          <p:cNvSpPr/>
          <p:nvPr/>
        </p:nvSpPr>
        <p:spPr>
          <a:xfrm>
            <a:off x="5422320" y="2743200"/>
            <a:ext cx="1508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Localisation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7123320" y="2743200"/>
            <a:ext cx="1508400" cy="59400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1590C4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7"/>
          <p:cNvSpPr/>
          <p:nvPr/>
        </p:nvSpPr>
        <p:spPr>
          <a:xfrm>
            <a:off x="7123320" y="2743200"/>
            <a:ext cx="1508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Événements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7"/>
          <p:cNvSpPr/>
          <p:nvPr/>
        </p:nvSpPr>
        <p:spPr>
          <a:xfrm>
            <a:off x="320040" y="3566160"/>
            <a:ext cx="8503560" cy="502560"/>
          </a:xfrm>
          <a:prstGeom prst="rect">
            <a:avLst/>
          </a:prstGeom>
          <a:solidFill>
            <a:srgbClr val="7B2D00"/>
          </a:solidFill>
          <a:ln cap="flat" cmpd="sng" w="12600">
            <a:solidFill>
              <a:srgbClr val="D4521E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7"/>
          <p:cNvSpPr/>
          <p:nvPr/>
        </p:nvSpPr>
        <p:spPr>
          <a:xfrm>
            <a:off x="320040" y="3566160"/>
            <a:ext cx="850356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Apache Kafka — Event Bus</a:t>
            </a:r>
            <a:endParaRPr b="0" i="0" sz="1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7"/>
          <p:cNvSpPr/>
          <p:nvPr/>
        </p:nvSpPr>
        <p:spPr>
          <a:xfrm>
            <a:off x="548640" y="4251960"/>
            <a:ext cx="2468520" cy="685440"/>
          </a:xfrm>
          <a:prstGeom prst="rect">
            <a:avLst/>
          </a:prstGeom>
          <a:solidFill>
            <a:srgbClr val="0A4A2A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7"/>
          <p:cNvSpPr/>
          <p:nvPr/>
        </p:nvSpPr>
        <p:spPr>
          <a:xfrm>
            <a:off x="548640" y="4251960"/>
            <a:ext cx="2468520" cy="685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TimescaleDB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Redis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7"/>
          <p:cNvSpPr/>
          <p:nvPr/>
        </p:nvSpPr>
        <p:spPr>
          <a:xfrm>
            <a:off x="3291840" y="4251960"/>
            <a:ext cx="2468520" cy="685440"/>
          </a:xfrm>
          <a:prstGeom prst="rect">
            <a:avLst/>
          </a:prstGeom>
          <a:solidFill>
            <a:srgbClr val="4A0A4A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7"/>
          <p:cNvSpPr/>
          <p:nvPr/>
        </p:nvSpPr>
        <p:spPr>
          <a:xfrm>
            <a:off x="3291840" y="4251960"/>
            <a:ext cx="2468520" cy="685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Keycloak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SSO · RBAC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JWT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7"/>
          <p:cNvSpPr/>
          <p:nvPr/>
        </p:nvSpPr>
        <p:spPr>
          <a:xfrm>
            <a:off x="6035040" y="4251960"/>
            <a:ext cx="2468520" cy="685440"/>
          </a:xfrm>
          <a:prstGeom prst="rect">
            <a:avLst/>
          </a:prstGeom>
          <a:solidFill>
            <a:srgbClr val="0A2A4A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7"/>
          <p:cNvSpPr/>
          <p:nvPr/>
        </p:nvSpPr>
        <p:spPr>
          <a:xfrm>
            <a:off x="6035040" y="4251960"/>
            <a:ext cx="2468520" cy="685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Prometheus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OTel · Grafana · Jaeger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Loki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8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8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 · Services Développés</a:t>
            </a:r>
            <a:endParaRPr b="0" i="0" sz="2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320040" y="914400"/>
            <a:ext cx="2559960" cy="1919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8"/>
          <p:cNvSpPr/>
          <p:nvPr/>
        </p:nvSpPr>
        <p:spPr>
          <a:xfrm>
            <a:off x="320040" y="914400"/>
            <a:ext cx="2559960" cy="456840"/>
          </a:xfrm>
          <a:prstGeom prst="rect">
            <a:avLst/>
          </a:prstGeom>
          <a:solidFill>
            <a:srgbClr val="0D5F9A"/>
          </a:solidFill>
          <a:ln cap="flat" cmpd="sng" w="12600">
            <a:solidFill>
              <a:srgbClr val="0D5F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8"/>
          <p:cNvSpPr/>
          <p:nvPr/>
        </p:nvSpPr>
        <p:spPr>
          <a:xfrm>
            <a:off x="457200" y="960120"/>
            <a:ext cx="22856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Véhicules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457200" y="144468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Spring Boot · Java 21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8"/>
          <p:cNvSpPr/>
          <p:nvPr/>
        </p:nvSpPr>
        <p:spPr>
          <a:xfrm rot="-7800">
            <a:off x="457200" y="177876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CRUD parc automobile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8"/>
          <p:cNvSpPr/>
          <p:nvPr/>
        </p:nvSpPr>
        <p:spPr>
          <a:xfrm>
            <a:off x="457200" y="213048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Statuts, historique, disponibilité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457200" y="247788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Événements Kafka producer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8"/>
          <p:cNvSpPr/>
          <p:nvPr/>
        </p:nvSpPr>
        <p:spPr>
          <a:xfrm>
            <a:off x="3240000" y="900000"/>
            <a:ext cx="2583000" cy="1919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8"/>
          <p:cNvSpPr/>
          <p:nvPr/>
        </p:nvSpPr>
        <p:spPr>
          <a:xfrm>
            <a:off x="3240000" y="900000"/>
            <a:ext cx="2583000" cy="456840"/>
          </a:xfrm>
          <a:prstGeom prst="rect">
            <a:avLst/>
          </a:prstGeom>
          <a:solidFill>
            <a:srgbClr val="0D7A6A"/>
          </a:solidFill>
          <a:ln cap="flat" cmpd="sng" w="12600">
            <a:solidFill>
              <a:srgbClr val="0D7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8"/>
          <p:cNvSpPr/>
          <p:nvPr/>
        </p:nvSpPr>
        <p:spPr>
          <a:xfrm>
            <a:off x="3420000" y="960120"/>
            <a:ext cx="22856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Conducteurs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8"/>
          <p:cNvSpPr/>
          <p:nvPr/>
        </p:nvSpPr>
        <p:spPr>
          <a:xfrm>
            <a:off x="3451320" y="1440000"/>
            <a:ext cx="248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rPr>
              <a:t>Spring Boot · Java 21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3451320" y="2094120"/>
            <a:ext cx="396000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Profils &amp; permis de conduire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8"/>
          <p:cNvSpPr/>
          <p:nvPr/>
        </p:nvSpPr>
        <p:spPr>
          <a:xfrm>
            <a:off x="3451320" y="177444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Assignation véhicule/mission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8"/>
          <p:cNvSpPr/>
          <p:nvPr/>
        </p:nvSpPr>
        <p:spPr>
          <a:xfrm>
            <a:off x="3451320" y="241380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Validation &amp; RBAC Keycloak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6194160" y="900000"/>
            <a:ext cx="2700000" cy="1919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8"/>
          <p:cNvSpPr/>
          <p:nvPr/>
        </p:nvSpPr>
        <p:spPr>
          <a:xfrm>
            <a:off x="6194160" y="900000"/>
            <a:ext cx="2700000" cy="456840"/>
          </a:xfrm>
          <a:prstGeom prst="rect">
            <a:avLst/>
          </a:prstGeom>
          <a:solidFill>
            <a:srgbClr val="7A4D0D"/>
          </a:solidFill>
          <a:ln cap="flat" cmpd="sng" w="12600">
            <a:solidFill>
              <a:srgbClr val="7A4D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"/>
          <p:cNvSpPr/>
          <p:nvPr/>
        </p:nvSpPr>
        <p:spPr>
          <a:xfrm>
            <a:off x="6331320" y="945720"/>
            <a:ext cx="22856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Maintenance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8"/>
          <p:cNvSpPr/>
          <p:nvPr/>
        </p:nvSpPr>
        <p:spPr>
          <a:xfrm>
            <a:off x="6331320" y="143028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rPr>
              <a:t>Spring Boot · Java 21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8"/>
          <p:cNvSpPr/>
          <p:nvPr/>
        </p:nvSpPr>
        <p:spPr>
          <a:xfrm>
            <a:off x="6331320" y="176868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Planification interventions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6331320" y="211608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Alertes préventives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8"/>
          <p:cNvSpPr/>
          <p:nvPr/>
        </p:nvSpPr>
        <p:spPr>
          <a:xfrm>
            <a:off x="6331320" y="243576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Saga pattern inter-services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8"/>
          <p:cNvSpPr/>
          <p:nvPr/>
        </p:nvSpPr>
        <p:spPr>
          <a:xfrm>
            <a:off x="4709160" y="2971800"/>
            <a:ext cx="4023000" cy="1919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8"/>
          <p:cNvSpPr/>
          <p:nvPr/>
        </p:nvSpPr>
        <p:spPr>
          <a:xfrm>
            <a:off x="4709160" y="2971800"/>
            <a:ext cx="4023000" cy="456840"/>
          </a:xfrm>
          <a:prstGeom prst="rect">
            <a:avLst/>
          </a:prstGeom>
          <a:solidFill>
            <a:srgbClr val="6A0D7A"/>
          </a:solidFill>
          <a:ln cap="flat" cmpd="sng" w="12600">
            <a:solidFill>
              <a:srgbClr val="6A0D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8"/>
          <p:cNvSpPr/>
          <p:nvPr/>
        </p:nvSpPr>
        <p:spPr>
          <a:xfrm>
            <a:off x="4846320" y="3017520"/>
            <a:ext cx="22856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Localisation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8"/>
          <p:cNvSpPr/>
          <p:nvPr/>
        </p:nvSpPr>
        <p:spPr>
          <a:xfrm>
            <a:off x="4846320" y="350208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rPr>
              <a:t>gRPC · NestJS · TimescaleDB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8"/>
          <p:cNvSpPr/>
          <p:nvPr/>
        </p:nvSpPr>
        <p:spPr>
          <a:xfrm>
            <a:off x="4846320" y="384048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Streaming GPS temps réel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8"/>
          <p:cNvSpPr/>
          <p:nvPr/>
        </p:nvSpPr>
        <p:spPr>
          <a:xfrm>
            <a:off x="4846320" y="418788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Historique time-series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8"/>
          <p:cNvSpPr/>
          <p:nvPr/>
        </p:nvSpPr>
        <p:spPr>
          <a:xfrm>
            <a:off x="4846320" y="453528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Géofencing &amp; alertes zones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8"/>
          <p:cNvSpPr/>
          <p:nvPr/>
        </p:nvSpPr>
        <p:spPr>
          <a:xfrm>
            <a:off x="360000" y="2963160"/>
            <a:ext cx="4023000" cy="1919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"/>
          <p:cNvSpPr/>
          <p:nvPr/>
        </p:nvSpPr>
        <p:spPr>
          <a:xfrm>
            <a:off x="360000" y="2963160"/>
            <a:ext cx="4023000" cy="456840"/>
          </a:xfrm>
          <a:prstGeom prst="rect">
            <a:avLst/>
          </a:prstGeom>
          <a:solidFill>
            <a:srgbClr val="A7074B"/>
          </a:solidFill>
          <a:ln cap="flat" cmpd="sng" w="12600">
            <a:solidFill>
              <a:srgbClr val="A707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"/>
          <p:cNvSpPr txBox="1"/>
          <p:nvPr/>
        </p:nvSpPr>
        <p:spPr>
          <a:xfrm>
            <a:off x="184320" y="3025080"/>
            <a:ext cx="1795680" cy="394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Événements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8"/>
          <p:cNvSpPr txBox="1"/>
          <p:nvPr/>
        </p:nvSpPr>
        <p:spPr>
          <a:xfrm>
            <a:off x="514800" y="3516840"/>
            <a:ext cx="1465200" cy="26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1D75"/>
                </a:solidFill>
                <a:latin typeface="Calibri"/>
                <a:ea typeface="Calibri"/>
                <a:cs typeface="Calibri"/>
                <a:sym typeface="Calibri"/>
              </a:rPr>
              <a:t>Spring Boot · Java 21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8"/>
          <p:cNvSpPr txBox="1"/>
          <p:nvPr/>
        </p:nvSpPr>
        <p:spPr>
          <a:xfrm>
            <a:off x="540000" y="3858840"/>
            <a:ext cx="2160000" cy="281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strike="noStrike">
                <a:solidFill>
                  <a:srgbClr val="8D1D75"/>
                </a:solidFill>
                <a:latin typeface="Calibri"/>
                <a:ea typeface="Calibri"/>
                <a:cs typeface="Calibri"/>
                <a:sym typeface="Calibri"/>
              </a:rPr>
              <a:t>•</a:t>
            </a:r>
            <a:r>
              <a:rPr b="1" lang="en-US" sz="1100" strike="noStrike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1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Notifications temps réel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8"/>
          <p:cNvSpPr txBox="1"/>
          <p:nvPr/>
        </p:nvSpPr>
        <p:spPr>
          <a:xfrm>
            <a:off x="540000" y="4208760"/>
            <a:ext cx="2880000" cy="471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strike="noStrike">
                <a:solidFill>
                  <a:srgbClr val="8D1D75"/>
                </a:solidFill>
                <a:latin typeface="Calibri"/>
                <a:ea typeface="Calibri"/>
                <a:cs typeface="Calibri"/>
                <a:sym typeface="Calibri"/>
              </a:rPr>
              <a:t>•</a:t>
            </a:r>
            <a:r>
              <a:rPr b="1" lang="en-US" sz="1100" strike="noStrike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1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Agrégation des alertes multi-services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548640" y="4543200"/>
            <a:ext cx="3060000" cy="471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strike="noStrike">
                <a:solidFill>
                  <a:srgbClr val="8D1D75"/>
                </a:solidFill>
                <a:latin typeface="Calibri"/>
                <a:ea typeface="Calibri"/>
                <a:cs typeface="Calibri"/>
                <a:sym typeface="Calibri"/>
              </a:rPr>
              <a:t>•</a:t>
            </a:r>
            <a:r>
              <a:rPr b="1" lang="en-US" sz="1100" strike="noStrike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1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Historique &amp; audit des événements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9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9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 · Sécurité &amp; Observabilité</a:t>
            </a:r>
            <a:endParaRPr b="0" sz="2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320040" y="914400"/>
            <a:ext cx="3977280" cy="3931560"/>
          </a:xfrm>
          <a:prstGeom prst="rect">
            <a:avLst/>
          </a:prstGeom>
          <a:solidFill>
            <a:srgbClr val="1A0A2E"/>
          </a:solidFill>
          <a:ln cap="flat" cmpd="sng" w="12600">
            <a:solidFill>
              <a:srgbClr val="1A0A2E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9"/>
          <p:cNvSpPr/>
          <p:nvPr/>
        </p:nvSpPr>
        <p:spPr>
          <a:xfrm>
            <a:off x="457200" y="1005840"/>
            <a:ext cx="365724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🔐 Sécurité — Zero Trust</a:t>
            </a:r>
            <a:endParaRPr b="0" sz="14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9"/>
          <p:cNvSpPr/>
          <p:nvPr/>
        </p:nvSpPr>
        <p:spPr>
          <a:xfrm>
            <a:off x="457200" y="1508760"/>
            <a:ext cx="365724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Keycloak SSO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9"/>
          <p:cNvSpPr/>
          <p:nvPr/>
        </p:nvSpPr>
        <p:spPr>
          <a:xfrm>
            <a:off x="457200" y="1764720"/>
            <a:ext cx="36572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Authentification centralisée OAuth2/OIDC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9"/>
          <p:cNvSpPr/>
          <p:nvPr/>
        </p:nvSpPr>
        <p:spPr>
          <a:xfrm>
            <a:off x="457200" y="2148840"/>
            <a:ext cx="365724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RBAC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9"/>
          <p:cNvSpPr/>
          <p:nvPr/>
        </p:nvSpPr>
        <p:spPr>
          <a:xfrm>
            <a:off x="457200" y="2404800"/>
            <a:ext cx="36572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3 rôles : Admin · Manager · Technicien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9"/>
          <p:cNvSpPr/>
          <p:nvPr/>
        </p:nvSpPr>
        <p:spPr>
          <a:xfrm>
            <a:off x="457200" y="2788920"/>
            <a:ext cx="365724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JWT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457200" y="3044880"/>
            <a:ext cx="36572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Tokens signés, validation par chaque service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9"/>
          <p:cNvSpPr/>
          <p:nvPr/>
        </p:nvSpPr>
        <p:spPr>
          <a:xfrm>
            <a:off x="457200" y="3429000"/>
            <a:ext cx="365724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mTLS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9"/>
          <p:cNvSpPr/>
          <p:nvPr/>
        </p:nvSpPr>
        <p:spPr>
          <a:xfrm>
            <a:off x="457200" y="3684960"/>
            <a:ext cx="36572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Chiffrement inter-services mutual TLS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9"/>
          <p:cNvSpPr/>
          <p:nvPr/>
        </p:nvSpPr>
        <p:spPr>
          <a:xfrm>
            <a:off x="457200" y="4069080"/>
            <a:ext cx="365724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Secrets K8s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9"/>
          <p:cNvSpPr/>
          <p:nvPr/>
        </p:nvSpPr>
        <p:spPr>
          <a:xfrm>
            <a:off x="457200" y="4325040"/>
            <a:ext cx="36572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Aucun secret en clair dans le code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9"/>
          <p:cNvSpPr/>
          <p:nvPr/>
        </p:nvSpPr>
        <p:spPr>
          <a:xfrm>
            <a:off x="4572000" y="914400"/>
            <a:ext cx="4251600" cy="393156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9"/>
          <p:cNvSpPr/>
          <p:nvPr/>
        </p:nvSpPr>
        <p:spPr>
          <a:xfrm>
            <a:off x="4709160" y="1005840"/>
            <a:ext cx="393156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📊 Observabilité — 3 Piliers</a:t>
            </a:r>
            <a:endParaRPr b="0" sz="14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9"/>
          <p:cNvSpPr/>
          <p:nvPr/>
        </p:nvSpPr>
        <p:spPr>
          <a:xfrm>
            <a:off x="4709160" y="1508760"/>
            <a:ext cx="63720" cy="914040"/>
          </a:xfrm>
          <a:prstGeom prst="rect">
            <a:avLst/>
          </a:prstGeom>
          <a:solidFill>
            <a:srgbClr val="E05A00"/>
          </a:solidFill>
          <a:ln cap="flat" cmpd="sng" w="12600">
            <a:solidFill>
              <a:srgbClr val="E05A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9"/>
          <p:cNvSpPr/>
          <p:nvPr/>
        </p:nvSpPr>
        <p:spPr>
          <a:xfrm>
            <a:off x="4892040" y="1527120"/>
            <a:ext cx="37486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strike="noStrike">
                <a:solidFill>
                  <a:srgbClr val="E05A00"/>
                </a:solidFill>
                <a:latin typeface="Calibri"/>
                <a:ea typeface="Calibri"/>
                <a:cs typeface="Calibri"/>
                <a:sym typeface="Calibri"/>
              </a:rPr>
              <a:t>Traces</a:t>
            </a:r>
            <a:endParaRPr b="0" sz="13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4892040" y="1819800"/>
            <a:ext cx="3748680" cy="228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Jaeger + OpenTelemetry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9"/>
          <p:cNvSpPr/>
          <p:nvPr/>
        </p:nvSpPr>
        <p:spPr>
          <a:xfrm>
            <a:off x="4892040" y="205740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Traçage distribué des requêtes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4892040" y="225864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Debug inter-services visuel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9"/>
          <p:cNvSpPr/>
          <p:nvPr/>
        </p:nvSpPr>
        <p:spPr>
          <a:xfrm>
            <a:off x="4709160" y="2606040"/>
            <a:ext cx="63720" cy="914040"/>
          </a:xfrm>
          <a:prstGeom prst="rect">
            <a:avLst/>
          </a:prstGeom>
          <a:solidFill>
            <a:srgbClr val="CC0000"/>
          </a:solidFill>
          <a:ln cap="flat" cmpd="sng" w="126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9"/>
          <p:cNvSpPr/>
          <p:nvPr/>
        </p:nvSpPr>
        <p:spPr>
          <a:xfrm>
            <a:off x="4892040" y="2624400"/>
            <a:ext cx="37486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strike="noStrike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Métriques</a:t>
            </a:r>
            <a:endParaRPr b="0" sz="13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9"/>
          <p:cNvSpPr/>
          <p:nvPr/>
        </p:nvSpPr>
        <p:spPr>
          <a:xfrm>
            <a:off x="4892040" y="2917080"/>
            <a:ext cx="3748680" cy="228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Prometheus + Grafana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9"/>
          <p:cNvSpPr/>
          <p:nvPr/>
        </p:nvSpPr>
        <p:spPr>
          <a:xfrm>
            <a:off x="4892040" y="315468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RED metrics · Dashboards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9"/>
          <p:cNvSpPr/>
          <p:nvPr/>
        </p:nvSpPr>
        <p:spPr>
          <a:xfrm>
            <a:off x="4892040" y="335592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Alertes seuils métier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9"/>
          <p:cNvSpPr/>
          <p:nvPr/>
        </p:nvSpPr>
        <p:spPr>
          <a:xfrm>
            <a:off x="4709160" y="3703320"/>
            <a:ext cx="63720" cy="914040"/>
          </a:xfrm>
          <a:prstGeom prst="rect">
            <a:avLst/>
          </a:prstGeom>
          <a:solidFill>
            <a:srgbClr val="0070C0"/>
          </a:solidFill>
          <a:ln cap="flat" cmpd="sng" w="12600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9"/>
          <p:cNvSpPr/>
          <p:nvPr/>
        </p:nvSpPr>
        <p:spPr>
          <a:xfrm>
            <a:off x="4892040" y="3721680"/>
            <a:ext cx="37486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strike="noStrike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Logs</a:t>
            </a:r>
            <a:endParaRPr b="0" sz="13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9"/>
          <p:cNvSpPr/>
          <p:nvPr/>
        </p:nvSpPr>
        <p:spPr>
          <a:xfrm>
            <a:off x="4892040" y="4014360"/>
            <a:ext cx="3748680" cy="228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Loki + Correlation ID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9"/>
          <p:cNvSpPr/>
          <p:nvPr/>
        </p:nvSpPr>
        <p:spPr>
          <a:xfrm>
            <a:off x="4892040" y="425196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Logs JSON structurés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9"/>
          <p:cNvSpPr/>
          <p:nvPr/>
        </p:nvSpPr>
        <p:spPr>
          <a:xfrm>
            <a:off x="4892040" y="445320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Recherche centralisée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8111E"/>
          </a:solidFill>
          <a:ln cap="flat" cmpd="sng" w="12600">
            <a:solidFill>
              <a:srgbClr val="0811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0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 · Infrastructure &amp; CI/CD</a:t>
            </a:r>
            <a:endParaRPr b="0" sz="2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20"/>
          <p:cNvSpPr/>
          <p:nvPr/>
        </p:nvSpPr>
        <p:spPr>
          <a:xfrm>
            <a:off x="365760" y="914400"/>
            <a:ext cx="82292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Pipeline CI/CD — GitHub Actions</a:t>
            </a:r>
            <a:endParaRPr b="0" sz="14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0"/>
          <p:cNvSpPr/>
          <p:nvPr/>
        </p:nvSpPr>
        <p:spPr>
          <a:xfrm>
            <a:off x="457200" y="1371600"/>
            <a:ext cx="1416960" cy="1005480"/>
          </a:xfrm>
          <a:prstGeom prst="rect">
            <a:avLst/>
          </a:prstGeom>
          <a:solidFill>
            <a:srgbClr val="1D7A1D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0"/>
          <p:cNvSpPr/>
          <p:nvPr/>
        </p:nvSpPr>
        <p:spPr>
          <a:xfrm>
            <a:off x="457200" y="1371600"/>
            <a:ext cx="1416960" cy="1005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Push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0"/>
          <p:cNvSpPr/>
          <p:nvPr/>
        </p:nvSpPr>
        <p:spPr>
          <a:xfrm>
            <a:off x="1874520" y="1737360"/>
            <a:ext cx="2739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sz="18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0"/>
          <p:cNvSpPr/>
          <p:nvPr/>
        </p:nvSpPr>
        <p:spPr>
          <a:xfrm>
            <a:off x="2148840" y="1371600"/>
            <a:ext cx="1416960" cy="100548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0"/>
          <p:cNvSpPr/>
          <p:nvPr/>
        </p:nvSpPr>
        <p:spPr>
          <a:xfrm>
            <a:off x="2148840" y="1371600"/>
            <a:ext cx="1416960" cy="1005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Tests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&gt;80%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0"/>
          <p:cNvSpPr/>
          <p:nvPr/>
        </p:nvSpPr>
        <p:spPr>
          <a:xfrm>
            <a:off x="3566160" y="1737360"/>
            <a:ext cx="2739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sz="18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0"/>
          <p:cNvSpPr/>
          <p:nvPr/>
        </p:nvSpPr>
        <p:spPr>
          <a:xfrm>
            <a:off x="3840480" y="1371600"/>
            <a:ext cx="1416960" cy="100548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0"/>
          <p:cNvSpPr/>
          <p:nvPr/>
        </p:nvSpPr>
        <p:spPr>
          <a:xfrm>
            <a:off x="3840480" y="1371600"/>
            <a:ext cx="1416960" cy="1005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Docker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Build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0"/>
          <p:cNvSpPr/>
          <p:nvPr/>
        </p:nvSpPr>
        <p:spPr>
          <a:xfrm>
            <a:off x="5257800" y="1737360"/>
            <a:ext cx="2739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sz="18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0"/>
          <p:cNvSpPr/>
          <p:nvPr/>
        </p:nvSpPr>
        <p:spPr>
          <a:xfrm>
            <a:off x="5532120" y="1371600"/>
            <a:ext cx="1416960" cy="1005480"/>
          </a:xfrm>
          <a:prstGeom prst="rect">
            <a:avLst/>
          </a:prstGeom>
          <a:solidFill>
            <a:srgbClr val="7A4D0D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0"/>
          <p:cNvSpPr/>
          <p:nvPr/>
        </p:nvSpPr>
        <p:spPr>
          <a:xfrm>
            <a:off x="5532120" y="1371600"/>
            <a:ext cx="1416960" cy="1005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Linting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Tests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0"/>
          <p:cNvSpPr/>
          <p:nvPr/>
        </p:nvSpPr>
        <p:spPr>
          <a:xfrm>
            <a:off x="6949440" y="1737360"/>
            <a:ext cx="2739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sz="18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0"/>
          <p:cNvSpPr/>
          <p:nvPr/>
        </p:nvSpPr>
        <p:spPr>
          <a:xfrm>
            <a:off x="7223760" y="1371600"/>
            <a:ext cx="1416960" cy="1005480"/>
          </a:xfrm>
          <a:prstGeom prst="rect">
            <a:avLst/>
          </a:prstGeom>
          <a:solidFill>
            <a:srgbClr val="6A0D7A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0"/>
          <p:cNvSpPr/>
          <p:nvPr/>
        </p:nvSpPr>
        <p:spPr>
          <a:xfrm>
            <a:off x="7223760" y="1371600"/>
            <a:ext cx="1416960" cy="1005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Helm K8s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0"/>
          <p:cNvSpPr/>
          <p:nvPr/>
        </p:nvSpPr>
        <p:spPr>
          <a:xfrm>
            <a:off x="365760" y="2651760"/>
            <a:ext cx="82292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Déploiement Kubernetes</a:t>
            </a:r>
            <a:endParaRPr b="0" sz="14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0"/>
          <p:cNvSpPr/>
          <p:nvPr/>
        </p:nvSpPr>
        <p:spPr>
          <a:xfrm>
            <a:off x="365760" y="3108960"/>
            <a:ext cx="1965600" cy="1737000"/>
          </a:xfrm>
          <a:prstGeom prst="rect">
            <a:avLst/>
          </a:prstGeom>
          <a:solidFill>
            <a:srgbClr val="0D2B55"/>
          </a:solidFill>
          <a:ln cap="flat" cmpd="sng" w="12600">
            <a:solidFill>
              <a:srgbClr val="1A3A6B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0"/>
          <p:cNvSpPr/>
          <p:nvPr/>
        </p:nvSpPr>
        <p:spPr>
          <a:xfrm>
            <a:off x="457200" y="3200400"/>
            <a:ext cx="178272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Namespaces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20"/>
          <p:cNvSpPr/>
          <p:nvPr/>
        </p:nvSpPr>
        <p:spPr>
          <a:xfrm>
            <a:off x="457200" y="3703320"/>
            <a:ext cx="178272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Isolation par environnement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0"/>
          <p:cNvSpPr/>
          <p:nvPr/>
        </p:nvSpPr>
        <p:spPr>
          <a:xfrm>
            <a:off x="457200" y="4005000"/>
            <a:ext cx="178272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(dev · staging · prod)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0"/>
          <p:cNvSpPr/>
          <p:nvPr/>
        </p:nvSpPr>
        <p:spPr>
          <a:xfrm>
            <a:off x="2514600" y="3108960"/>
            <a:ext cx="1965600" cy="1737000"/>
          </a:xfrm>
          <a:prstGeom prst="rect">
            <a:avLst/>
          </a:prstGeom>
          <a:solidFill>
            <a:srgbClr val="0D2B55"/>
          </a:solidFill>
          <a:ln cap="flat" cmpd="sng" w="12600">
            <a:solidFill>
              <a:srgbClr val="1A3A6B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20"/>
          <p:cNvSpPr/>
          <p:nvPr/>
        </p:nvSpPr>
        <p:spPr>
          <a:xfrm>
            <a:off x="2606040" y="3200400"/>
            <a:ext cx="178272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Helm Charts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20"/>
          <p:cNvSpPr/>
          <p:nvPr/>
        </p:nvSpPr>
        <p:spPr>
          <a:xfrm>
            <a:off x="2606040" y="3703320"/>
            <a:ext cx="178272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Versionning déploiements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20"/>
          <p:cNvSpPr/>
          <p:nvPr/>
        </p:nvSpPr>
        <p:spPr>
          <a:xfrm>
            <a:off x="2606040" y="4005000"/>
            <a:ext cx="178272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Rollback automatique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20"/>
          <p:cNvSpPr/>
          <p:nvPr/>
        </p:nvSpPr>
        <p:spPr>
          <a:xfrm>
            <a:off x="4663440" y="3108960"/>
            <a:ext cx="1965600" cy="1737000"/>
          </a:xfrm>
          <a:prstGeom prst="rect">
            <a:avLst/>
          </a:prstGeom>
          <a:solidFill>
            <a:srgbClr val="0D2B55"/>
          </a:solidFill>
          <a:ln cap="flat" cmpd="sng" w="12600">
            <a:solidFill>
              <a:srgbClr val="1A3A6B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0"/>
          <p:cNvSpPr/>
          <p:nvPr/>
        </p:nvSpPr>
        <p:spPr>
          <a:xfrm>
            <a:off x="4754880" y="3200400"/>
            <a:ext cx="178272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ConfigMaps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&amp; Secrets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0"/>
          <p:cNvSpPr/>
          <p:nvPr/>
        </p:nvSpPr>
        <p:spPr>
          <a:xfrm>
            <a:off x="4754880" y="3703320"/>
            <a:ext cx="178272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Configuration externalisée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0"/>
          <p:cNvSpPr/>
          <p:nvPr/>
        </p:nvSpPr>
        <p:spPr>
          <a:xfrm>
            <a:off x="4754880" y="4005000"/>
            <a:ext cx="178272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Secrets chiffrés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0"/>
          <p:cNvSpPr/>
          <p:nvPr/>
        </p:nvSpPr>
        <p:spPr>
          <a:xfrm>
            <a:off x="6812280" y="3108960"/>
            <a:ext cx="1965600" cy="1737000"/>
          </a:xfrm>
          <a:prstGeom prst="rect">
            <a:avLst/>
          </a:prstGeom>
          <a:solidFill>
            <a:srgbClr val="0D2B55"/>
          </a:solidFill>
          <a:ln cap="flat" cmpd="sng" w="12600">
            <a:solidFill>
              <a:srgbClr val="1A3A6B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0"/>
          <p:cNvSpPr/>
          <p:nvPr/>
        </p:nvSpPr>
        <p:spPr>
          <a:xfrm>
            <a:off x="6903720" y="3200400"/>
            <a:ext cx="178272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Ingress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20"/>
          <p:cNvSpPr/>
          <p:nvPr/>
        </p:nvSpPr>
        <p:spPr>
          <a:xfrm>
            <a:off x="6903720" y="3703320"/>
            <a:ext cx="178272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Routing &amp; Load balancing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0"/>
          <p:cNvSpPr/>
          <p:nvPr/>
        </p:nvSpPr>
        <p:spPr>
          <a:xfrm>
            <a:off x="6903720" y="4005000"/>
            <a:ext cx="178272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Load balancing &amp; TLS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1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1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 · Tests &amp; Qualité</a:t>
            </a:r>
            <a:endParaRPr b="0" sz="2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1"/>
          <p:cNvSpPr/>
          <p:nvPr/>
        </p:nvSpPr>
        <p:spPr>
          <a:xfrm>
            <a:off x="320040" y="914400"/>
            <a:ext cx="3977280" cy="3931560"/>
          </a:xfrm>
          <a:prstGeom prst="rect">
            <a:avLst/>
          </a:prstGeom>
          <a:solidFill>
            <a:srgbClr val="1A0A2E"/>
          </a:solidFill>
          <a:ln cap="flat" cmpd="sng" w="12600">
            <a:solidFill>
              <a:srgbClr val="1A0A2E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1"/>
          <p:cNvSpPr/>
          <p:nvPr/>
        </p:nvSpPr>
        <p:spPr>
          <a:xfrm>
            <a:off x="457200" y="1005840"/>
            <a:ext cx="365724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✅ Tests Unitaires</a:t>
            </a:r>
            <a:endParaRPr b="0" sz="14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21"/>
          <p:cNvSpPr/>
          <p:nvPr/>
        </p:nvSpPr>
        <p:spPr>
          <a:xfrm>
            <a:off x="457200" y="1508760"/>
            <a:ext cx="365724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JUnit 5 + Mockito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21"/>
          <p:cNvSpPr/>
          <p:nvPr/>
        </p:nvSpPr>
        <p:spPr>
          <a:xfrm>
            <a:off x="457200" y="1764720"/>
            <a:ext cx="36572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Spring Boot — 80% couverture (JaCoCo)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21"/>
          <p:cNvSpPr/>
          <p:nvPr/>
        </p:nvSpPr>
        <p:spPr>
          <a:xfrm>
            <a:off x="457200" y="2148840"/>
            <a:ext cx="365724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Jest + Supertest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21"/>
          <p:cNvSpPr/>
          <p:nvPr/>
        </p:nvSpPr>
        <p:spPr>
          <a:xfrm>
            <a:off x="457200" y="2404800"/>
            <a:ext cx="36572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NestJS — 80% couverture (Istanbul)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21"/>
          <p:cNvSpPr/>
          <p:nvPr/>
        </p:nvSpPr>
        <p:spPr>
          <a:xfrm>
            <a:off x="457200" y="2788920"/>
            <a:ext cx="365724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Tests d'Intégration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21"/>
          <p:cNvSpPr/>
          <p:nvPr/>
        </p:nvSpPr>
        <p:spPr>
          <a:xfrm>
            <a:off x="457200" y="3044880"/>
            <a:ext cx="36572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Testcontainers · BDD + Kafka réels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21"/>
          <p:cNvSpPr/>
          <p:nvPr/>
        </p:nvSpPr>
        <p:spPr>
          <a:xfrm>
            <a:off x="457200" y="3429000"/>
            <a:ext cx="365724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MockMvc · Supertest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1"/>
          <p:cNvSpPr/>
          <p:nvPr/>
        </p:nvSpPr>
        <p:spPr>
          <a:xfrm>
            <a:off x="457200" y="3684960"/>
            <a:ext cx="36572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API et contrats inter-services vérifiés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21"/>
          <p:cNvSpPr/>
          <p:nvPr/>
        </p:nvSpPr>
        <p:spPr>
          <a:xfrm>
            <a:off x="457200" y="4069080"/>
            <a:ext cx="365724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strike="noStrike">
                <a:solidFill>
                  <a:srgbClr val="F5C842"/>
                </a:solidFill>
                <a:latin typeface="Calibri"/>
                <a:ea typeface="Calibri"/>
                <a:cs typeface="Calibri"/>
                <a:sym typeface="Calibri"/>
              </a:rPr>
              <a:t>Couverture globale</a:t>
            </a:r>
            <a:endParaRPr b="0" sz="1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21"/>
          <p:cNvSpPr/>
          <p:nvPr/>
        </p:nvSpPr>
        <p:spPr>
          <a:xfrm>
            <a:off x="457200" y="4325040"/>
            <a:ext cx="36572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80% mesurée · rapport automatique CI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21"/>
          <p:cNvSpPr/>
          <p:nvPr/>
        </p:nvSpPr>
        <p:spPr>
          <a:xfrm>
            <a:off x="4572000" y="914400"/>
            <a:ext cx="4251600" cy="393156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21"/>
          <p:cNvSpPr/>
          <p:nvPr/>
        </p:nvSpPr>
        <p:spPr>
          <a:xfrm>
            <a:off x="4709160" y="1005840"/>
            <a:ext cx="393156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🌐 Tests E2E &amp; Charge</a:t>
            </a:r>
            <a:endParaRPr b="0" sz="14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21"/>
          <p:cNvSpPr/>
          <p:nvPr/>
        </p:nvSpPr>
        <p:spPr>
          <a:xfrm>
            <a:off x="4709160" y="1508760"/>
            <a:ext cx="63720" cy="914040"/>
          </a:xfrm>
          <a:prstGeom prst="rect">
            <a:avLst/>
          </a:prstGeom>
          <a:solidFill>
            <a:srgbClr val="E05A00"/>
          </a:solidFill>
          <a:ln cap="flat" cmpd="sng" w="12600">
            <a:solidFill>
              <a:srgbClr val="E05A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21"/>
          <p:cNvSpPr/>
          <p:nvPr/>
        </p:nvSpPr>
        <p:spPr>
          <a:xfrm>
            <a:off x="4892040" y="1527120"/>
            <a:ext cx="37486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strike="noStrike">
                <a:solidFill>
                  <a:srgbClr val="E05A00"/>
                </a:solidFill>
                <a:latin typeface="Calibri"/>
                <a:ea typeface="Calibri"/>
                <a:cs typeface="Calibri"/>
                <a:sym typeface="Calibri"/>
              </a:rPr>
              <a:t>End-to-End — Playwright</a:t>
            </a:r>
            <a:endParaRPr b="0" sz="13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21"/>
          <p:cNvSpPr/>
          <p:nvPr/>
        </p:nvSpPr>
        <p:spPr>
          <a:xfrm>
            <a:off x="4892040" y="1819800"/>
            <a:ext cx="3748680" cy="228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Playwright · parcours utilisateur complets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21"/>
          <p:cNvSpPr/>
          <p:nvPr/>
        </p:nvSpPr>
        <p:spPr>
          <a:xfrm>
            <a:off x="4892040" y="205740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Auth Keycloak → CRUD → assertions UI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21"/>
          <p:cNvSpPr/>
          <p:nvPr/>
        </p:nvSpPr>
        <p:spPr>
          <a:xfrm>
            <a:off x="4892040" y="225864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Intégré au pipeline CI (bloquant avant deploy)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21"/>
          <p:cNvSpPr/>
          <p:nvPr/>
        </p:nvSpPr>
        <p:spPr>
          <a:xfrm>
            <a:off x="4709160" y="2606040"/>
            <a:ext cx="63720" cy="914040"/>
          </a:xfrm>
          <a:prstGeom prst="rect">
            <a:avLst/>
          </a:prstGeom>
          <a:solidFill>
            <a:srgbClr val="CC0000"/>
          </a:solidFill>
          <a:ln cap="flat" cmpd="sng" w="126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1"/>
          <p:cNvSpPr/>
          <p:nvPr/>
        </p:nvSpPr>
        <p:spPr>
          <a:xfrm>
            <a:off x="4892040" y="2624400"/>
            <a:ext cx="37486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strike="noStrike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Tests de Charge — k6</a:t>
            </a:r>
            <a:endParaRPr b="0" sz="13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21"/>
          <p:cNvSpPr/>
          <p:nvPr/>
        </p:nvSpPr>
        <p:spPr>
          <a:xfrm>
            <a:off x="4892040" y="2917080"/>
            <a:ext cx="3748680" cy="228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500 véhicules GPS en simultané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21"/>
          <p:cNvSpPr/>
          <p:nvPr/>
        </p:nvSpPr>
        <p:spPr>
          <a:xfrm>
            <a:off x="4892040" y="315468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P95 &lt; 200 ms · rapport HTML k6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21"/>
          <p:cNvSpPr/>
          <p:nvPr/>
        </p:nvSpPr>
        <p:spPr>
          <a:xfrm>
            <a:off x="4892040" y="335592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RPS · erreurs · latence par endpoint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21"/>
          <p:cNvSpPr/>
          <p:nvPr/>
        </p:nvSpPr>
        <p:spPr>
          <a:xfrm>
            <a:off x="4709160" y="3703320"/>
            <a:ext cx="63720" cy="914040"/>
          </a:xfrm>
          <a:prstGeom prst="rect">
            <a:avLst/>
          </a:prstGeom>
          <a:solidFill>
            <a:srgbClr val="0070C0"/>
          </a:solidFill>
          <a:ln cap="flat" cmpd="sng" w="12600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21"/>
          <p:cNvSpPr/>
          <p:nvPr/>
        </p:nvSpPr>
        <p:spPr>
          <a:xfrm>
            <a:off x="4892040" y="3721680"/>
            <a:ext cx="37486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strike="noStrike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Résultats &amp; Qualité CI</a:t>
            </a:r>
            <a:endParaRPr b="0" sz="13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21"/>
          <p:cNvSpPr/>
          <p:nvPr/>
        </p:nvSpPr>
        <p:spPr>
          <a:xfrm>
            <a:off x="4892040" y="4014360"/>
            <a:ext cx="3748680" cy="228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Badge couverture dans chaque PR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21"/>
          <p:cNvSpPr/>
          <p:nvPr/>
        </p:nvSpPr>
        <p:spPr>
          <a:xfrm>
            <a:off x="4892040" y="425196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Résultats &amp; Qualité CI JSON structurés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1"/>
          <p:cNvSpPr/>
          <p:nvPr/>
        </p:nvSpPr>
        <p:spPr>
          <a:xfrm>
            <a:off x="4892040" y="4453200"/>
            <a:ext cx="374868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lint → test → build → deploy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2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2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Stack Technologique</a:t>
            </a:r>
            <a:endParaRPr b="0" sz="2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2"/>
          <p:cNvSpPr/>
          <p:nvPr/>
        </p:nvSpPr>
        <p:spPr>
          <a:xfrm>
            <a:off x="320040" y="914400"/>
            <a:ext cx="4023000" cy="776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2"/>
          <p:cNvSpPr/>
          <p:nvPr/>
        </p:nvSpPr>
        <p:spPr>
          <a:xfrm>
            <a:off x="320040" y="914400"/>
            <a:ext cx="63720" cy="776880"/>
          </a:xfrm>
          <a:prstGeom prst="rect">
            <a:avLst/>
          </a:prstGeom>
          <a:solidFill>
            <a:srgbClr val="0D5F9A"/>
          </a:solidFill>
          <a:ln cap="flat" cmpd="sng" w="12600">
            <a:solidFill>
              <a:srgbClr val="0D5F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22"/>
          <p:cNvSpPr/>
          <p:nvPr/>
        </p:nvSpPr>
        <p:spPr>
          <a:xfrm>
            <a:off x="502920" y="96012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strike="noStrike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22"/>
          <p:cNvSpPr/>
          <p:nvPr/>
        </p:nvSpPr>
        <p:spPr>
          <a:xfrm>
            <a:off x="502920" y="128016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Spring Boot (Java 21) · Node.js / NestJS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22"/>
          <p:cNvSpPr/>
          <p:nvPr/>
        </p:nvSpPr>
        <p:spPr>
          <a:xfrm>
            <a:off x="4709160" y="914400"/>
            <a:ext cx="4023000" cy="776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2"/>
          <p:cNvSpPr/>
          <p:nvPr/>
        </p:nvSpPr>
        <p:spPr>
          <a:xfrm>
            <a:off x="4709160" y="914400"/>
            <a:ext cx="63720" cy="776880"/>
          </a:xfrm>
          <a:prstGeom prst="rect">
            <a:avLst/>
          </a:prstGeom>
          <a:solidFill>
            <a:srgbClr val="0D7A6A"/>
          </a:solidFill>
          <a:ln cap="flat" cmpd="sng" w="12600">
            <a:solidFill>
              <a:srgbClr val="0D7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2"/>
          <p:cNvSpPr/>
          <p:nvPr/>
        </p:nvSpPr>
        <p:spPr>
          <a:xfrm>
            <a:off x="4892040" y="96012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strike="noStrike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rPr>
              <a:t>Base de données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22"/>
          <p:cNvSpPr/>
          <p:nvPr/>
        </p:nvSpPr>
        <p:spPr>
          <a:xfrm>
            <a:off x="4892040" y="128016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PostgreSQL · Redis · TimescaleDB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2"/>
          <p:cNvSpPr/>
          <p:nvPr/>
        </p:nvSpPr>
        <p:spPr>
          <a:xfrm>
            <a:off x="320040" y="1874520"/>
            <a:ext cx="4023000" cy="776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22"/>
          <p:cNvSpPr/>
          <p:nvPr/>
        </p:nvSpPr>
        <p:spPr>
          <a:xfrm>
            <a:off x="320040" y="1874520"/>
            <a:ext cx="63720" cy="776880"/>
          </a:xfrm>
          <a:prstGeom prst="rect">
            <a:avLst/>
          </a:prstGeom>
          <a:solidFill>
            <a:srgbClr val="7A4D0D"/>
          </a:solidFill>
          <a:ln cap="flat" cmpd="sng" w="12600">
            <a:solidFill>
              <a:srgbClr val="7A4D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22"/>
          <p:cNvSpPr/>
          <p:nvPr/>
        </p:nvSpPr>
        <p:spPr>
          <a:xfrm>
            <a:off x="502920" y="192024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strike="noStrike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rPr>
              <a:t>Communication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22"/>
          <p:cNvSpPr/>
          <p:nvPr/>
        </p:nvSpPr>
        <p:spPr>
          <a:xfrm>
            <a:off x="502920" y="224028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REST · GraphQL · gRPC · Apache Kafka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22"/>
          <p:cNvSpPr/>
          <p:nvPr/>
        </p:nvSpPr>
        <p:spPr>
          <a:xfrm>
            <a:off x="4709160" y="1874520"/>
            <a:ext cx="4023000" cy="776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22"/>
          <p:cNvSpPr/>
          <p:nvPr/>
        </p:nvSpPr>
        <p:spPr>
          <a:xfrm>
            <a:off x="4709160" y="1874520"/>
            <a:ext cx="63720" cy="776880"/>
          </a:xfrm>
          <a:prstGeom prst="rect">
            <a:avLst/>
          </a:prstGeom>
          <a:solidFill>
            <a:srgbClr val="6A0D7A"/>
          </a:solidFill>
          <a:ln cap="flat" cmpd="sng" w="12600">
            <a:solidFill>
              <a:srgbClr val="6A0D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22"/>
          <p:cNvSpPr/>
          <p:nvPr/>
        </p:nvSpPr>
        <p:spPr>
          <a:xfrm>
            <a:off x="4892040" y="192024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strike="noStrike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rPr>
              <a:t>Sécurité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22"/>
          <p:cNvSpPr/>
          <p:nvPr/>
        </p:nvSpPr>
        <p:spPr>
          <a:xfrm>
            <a:off x="4892040" y="224028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Keycloak · JWT · RBAC · mTLS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22"/>
          <p:cNvSpPr/>
          <p:nvPr/>
        </p:nvSpPr>
        <p:spPr>
          <a:xfrm>
            <a:off x="320040" y="2834640"/>
            <a:ext cx="4023000" cy="776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2"/>
          <p:cNvSpPr/>
          <p:nvPr/>
        </p:nvSpPr>
        <p:spPr>
          <a:xfrm>
            <a:off x="320040" y="2834640"/>
            <a:ext cx="63720" cy="776880"/>
          </a:xfrm>
          <a:prstGeom prst="rect">
            <a:avLst/>
          </a:prstGeom>
          <a:solidFill>
            <a:srgbClr val="0D5F9A"/>
          </a:solidFill>
          <a:ln cap="flat" cmpd="sng" w="12600">
            <a:solidFill>
              <a:srgbClr val="0D5F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2"/>
          <p:cNvSpPr/>
          <p:nvPr/>
        </p:nvSpPr>
        <p:spPr>
          <a:xfrm>
            <a:off x="502920" y="288036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strike="noStrike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22"/>
          <p:cNvSpPr/>
          <p:nvPr/>
        </p:nvSpPr>
        <p:spPr>
          <a:xfrm>
            <a:off x="502920" y="320040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React · Vite Module Federation · Playwright E2E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2"/>
          <p:cNvSpPr/>
          <p:nvPr/>
        </p:nvSpPr>
        <p:spPr>
          <a:xfrm>
            <a:off x="4709160" y="2834640"/>
            <a:ext cx="4023000" cy="776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2"/>
          <p:cNvSpPr/>
          <p:nvPr/>
        </p:nvSpPr>
        <p:spPr>
          <a:xfrm>
            <a:off x="4709160" y="2834640"/>
            <a:ext cx="63720" cy="776880"/>
          </a:xfrm>
          <a:prstGeom prst="rect">
            <a:avLst/>
          </a:prstGeom>
          <a:solidFill>
            <a:srgbClr val="7A0D0D"/>
          </a:solidFill>
          <a:ln cap="flat" cmpd="sng" w="12600">
            <a:solidFill>
              <a:srgbClr val="7A0D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22"/>
          <p:cNvSpPr/>
          <p:nvPr/>
        </p:nvSpPr>
        <p:spPr>
          <a:xfrm>
            <a:off x="4892040" y="288036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strike="noStrike">
                <a:solidFill>
                  <a:srgbClr val="7A0D0D"/>
                </a:solidFill>
                <a:latin typeface="Calibri"/>
                <a:ea typeface="Calibri"/>
                <a:cs typeface="Calibri"/>
                <a:sym typeface="Calibri"/>
              </a:rPr>
              <a:t>Observabilité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22"/>
          <p:cNvSpPr/>
          <p:nvPr/>
        </p:nvSpPr>
        <p:spPr>
          <a:xfrm>
            <a:off x="4892040" y="3200400"/>
            <a:ext cx="374868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OpenTelemetry · Jaeger · Prometheus · Grafana · Loki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22"/>
          <p:cNvSpPr/>
          <p:nvPr/>
        </p:nvSpPr>
        <p:spPr>
          <a:xfrm>
            <a:off x="2286000" y="3794760"/>
            <a:ext cx="4571640" cy="776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22"/>
          <p:cNvSpPr/>
          <p:nvPr/>
        </p:nvSpPr>
        <p:spPr>
          <a:xfrm>
            <a:off x="2286000" y="3794760"/>
            <a:ext cx="63720" cy="776880"/>
          </a:xfrm>
          <a:prstGeom prst="rect">
            <a:avLst/>
          </a:prstGeom>
          <a:solidFill>
            <a:srgbClr val="2A5A0D"/>
          </a:solidFill>
          <a:ln cap="flat" cmpd="sng" w="12600">
            <a:solidFill>
              <a:srgbClr val="2A5A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2"/>
          <p:cNvSpPr/>
          <p:nvPr/>
        </p:nvSpPr>
        <p:spPr>
          <a:xfrm>
            <a:off x="2468880" y="3840480"/>
            <a:ext cx="429732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strike="noStrike">
                <a:solidFill>
                  <a:srgbClr val="2A5A0D"/>
                </a:solidFill>
                <a:latin typeface="Calibri"/>
                <a:ea typeface="Calibri"/>
                <a:cs typeface="Calibri"/>
                <a:sym typeface="Calibri"/>
              </a:rPr>
              <a:t>Infra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22"/>
          <p:cNvSpPr/>
          <p:nvPr/>
        </p:nvSpPr>
        <p:spPr>
          <a:xfrm>
            <a:off x="2468880" y="4160520"/>
            <a:ext cx="429732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Docker · Kubernetes · Helm · GitHub Actions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3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23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Bilan &amp; Compétences acquises</a:t>
            </a:r>
            <a:endParaRPr b="0" sz="2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23"/>
          <p:cNvSpPr/>
          <p:nvPr/>
        </p:nvSpPr>
        <p:spPr>
          <a:xfrm>
            <a:off x="457200" y="960120"/>
            <a:ext cx="1828440" cy="118836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D2B55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3"/>
          <p:cNvSpPr/>
          <p:nvPr/>
        </p:nvSpPr>
        <p:spPr>
          <a:xfrm>
            <a:off x="457200" y="1005840"/>
            <a:ext cx="182844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sz="3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23"/>
          <p:cNvSpPr/>
          <p:nvPr/>
        </p:nvSpPr>
        <p:spPr>
          <a:xfrm>
            <a:off x="457200" y="1600200"/>
            <a:ext cx="18284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Microservices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développés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23"/>
          <p:cNvSpPr/>
          <p:nvPr/>
        </p:nvSpPr>
        <p:spPr>
          <a:xfrm>
            <a:off x="2514600" y="960120"/>
            <a:ext cx="1828440" cy="118836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D2B55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23"/>
          <p:cNvSpPr/>
          <p:nvPr/>
        </p:nvSpPr>
        <p:spPr>
          <a:xfrm>
            <a:off x="2514600" y="1005840"/>
            <a:ext cx="182844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sz="3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3"/>
          <p:cNvSpPr/>
          <p:nvPr/>
        </p:nvSpPr>
        <p:spPr>
          <a:xfrm>
            <a:off x="2514600" y="1600200"/>
            <a:ext cx="18284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Semaines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de sprint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23"/>
          <p:cNvSpPr/>
          <p:nvPr/>
        </p:nvSpPr>
        <p:spPr>
          <a:xfrm>
            <a:off x="4572000" y="960120"/>
            <a:ext cx="1828440" cy="118836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D2B55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23"/>
          <p:cNvSpPr/>
          <p:nvPr/>
        </p:nvSpPr>
        <p:spPr>
          <a:xfrm>
            <a:off x="4572000" y="1005840"/>
            <a:ext cx="182844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80%</a:t>
            </a:r>
            <a:endParaRPr b="0" sz="3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23"/>
          <p:cNvSpPr/>
          <p:nvPr/>
        </p:nvSpPr>
        <p:spPr>
          <a:xfrm>
            <a:off x="4572000" y="1600200"/>
            <a:ext cx="18284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Couverture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de tests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23"/>
          <p:cNvSpPr/>
          <p:nvPr/>
        </p:nvSpPr>
        <p:spPr>
          <a:xfrm>
            <a:off x="6629400" y="960120"/>
            <a:ext cx="1828440" cy="118836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D2B55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3"/>
          <p:cNvSpPr/>
          <p:nvPr/>
        </p:nvSpPr>
        <p:spPr>
          <a:xfrm>
            <a:off x="6629400" y="1005840"/>
            <a:ext cx="182844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sz="3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3"/>
          <p:cNvSpPr/>
          <p:nvPr/>
        </p:nvSpPr>
        <p:spPr>
          <a:xfrm>
            <a:off x="6629400" y="1600200"/>
            <a:ext cx="18284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Piliers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observabilité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3"/>
          <p:cNvSpPr/>
          <p:nvPr/>
        </p:nvSpPr>
        <p:spPr>
          <a:xfrm>
            <a:off x="365760" y="2331720"/>
            <a:ext cx="8229240" cy="34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Compétences clés démontrées :</a:t>
            </a:r>
            <a:endParaRPr b="0" sz="13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23"/>
          <p:cNvSpPr/>
          <p:nvPr/>
        </p:nvSpPr>
        <p:spPr>
          <a:xfrm>
            <a:off x="365760" y="2743200"/>
            <a:ext cx="4023000" cy="5482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3"/>
          <p:cNvSpPr/>
          <p:nvPr/>
        </p:nvSpPr>
        <p:spPr>
          <a:xfrm>
            <a:off x="365760" y="2743200"/>
            <a:ext cx="63720" cy="54828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23"/>
          <p:cNvSpPr/>
          <p:nvPr/>
        </p:nvSpPr>
        <p:spPr>
          <a:xfrm>
            <a:off x="548640" y="2743200"/>
            <a:ext cx="37486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Architecture microservices distribuée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23"/>
          <p:cNvSpPr/>
          <p:nvPr/>
        </p:nvSpPr>
        <p:spPr>
          <a:xfrm>
            <a:off x="4754880" y="2743200"/>
            <a:ext cx="4023000" cy="5482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23"/>
          <p:cNvSpPr/>
          <p:nvPr/>
        </p:nvSpPr>
        <p:spPr>
          <a:xfrm>
            <a:off x="4754880" y="2743200"/>
            <a:ext cx="63720" cy="54828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3"/>
          <p:cNvSpPr/>
          <p:nvPr/>
        </p:nvSpPr>
        <p:spPr>
          <a:xfrm>
            <a:off x="4937760" y="2743200"/>
            <a:ext cx="37486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Conteneurisation Docker &amp; orchestration K8s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23"/>
          <p:cNvSpPr/>
          <p:nvPr/>
        </p:nvSpPr>
        <p:spPr>
          <a:xfrm>
            <a:off x="365760" y="3401640"/>
            <a:ext cx="4023000" cy="5482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23"/>
          <p:cNvSpPr/>
          <p:nvPr/>
        </p:nvSpPr>
        <p:spPr>
          <a:xfrm>
            <a:off x="365760" y="3401640"/>
            <a:ext cx="63720" cy="54828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23"/>
          <p:cNvSpPr/>
          <p:nvPr/>
        </p:nvSpPr>
        <p:spPr>
          <a:xfrm>
            <a:off x="548640" y="3401640"/>
            <a:ext cx="37486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Event-driven avec Apache Kafka (saga chorégraphie)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23"/>
          <p:cNvSpPr/>
          <p:nvPr/>
        </p:nvSpPr>
        <p:spPr>
          <a:xfrm>
            <a:off x="4754880" y="3401640"/>
            <a:ext cx="4023000" cy="5482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3"/>
          <p:cNvSpPr/>
          <p:nvPr/>
        </p:nvSpPr>
        <p:spPr>
          <a:xfrm>
            <a:off x="4754880" y="3401640"/>
            <a:ext cx="63720" cy="54828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23"/>
          <p:cNvSpPr/>
          <p:nvPr/>
        </p:nvSpPr>
        <p:spPr>
          <a:xfrm>
            <a:off x="4937760" y="3401640"/>
            <a:ext cx="37486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Sécurité Zero Trust avec Keycloak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23"/>
          <p:cNvSpPr/>
          <p:nvPr/>
        </p:nvSpPr>
        <p:spPr>
          <a:xfrm>
            <a:off x="365760" y="4060080"/>
            <a:ext cx="4023000" cy="5482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23"/>
          <p:cNvSpPr/>
          <p:nvPr/>
        </p:nvSpPr>
        <p:spPr>
          <a:xfrm>
            <a:off x="365760" y="4060080"/>
            <a:ext cx="63720" cy="54828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3"/>
          <p:cNvSpPr/>
          <p:nvPr/>
        </p:nvSpPr>
        <p:spPr>
          <a:xfrm>
            <a:off x="548640" y="4060080"/>
            <a:ext cx="37486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Observabilité full-stack (traces, métriques, logs)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23"/>
          <p:cNvSpPr/>
          <p:nvPr/>
        </p:nvSpPr>
        <p:spPr>
          <a:xfrm>
            <a:off x="4754880" y="4060080"/>
            <a:ext cx="4023000" cy="5482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23"/>
          <p:cNvSpPr/>
          <p:nvPr/>
        </p:nvSpPr>
        <p:spPr>
          <a:xfrm>
            <a:off x="4754880" y="4060080"/>
            <a:ext cx="63720" cy="54828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3"/>
          <p:cNvSpPr/>
          <p:nvPr/>
        </p:nvSpPr>
        <p:spPr>
          <a:xfrm>
            <a:off x="4937760" y="4060080"/>
            <a:ext cx="37486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Pipeline CI/CD automatisé GitHub Actions</a:t>
            </a:r>
            <a:endParaRPr b="0" sz="1100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4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24"/>
          <p:cNvSpPr/>
          <p:nvPr/>
        </p:nvSpPr>
        <p:spPr>
          <a:xfrm>
            <a:off x="0" y="0"/>
            <a:ext cx="365400" cy="514332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4"/>
          <p:cNvSpPr/>
          <p:nvPr/>
        </p:nvSpPr>
        <p:spPr>
          <a:xfrm>
            <a:off x="8778240" y="0"/>
            <a:ext cx="365400" cy="514332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0" name="Google Shape;42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49040" y="457200"/>
            <a:ext cx="1645560" cy="137124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4"/>
          <p:cNvSpPr/>
          <p:nvPr/>
        </p:nvSpPr>
        <p:spPr>
          <a:xfrm>
            <a:off x="548640" y="1920240"/>
            <a:ext cx="8046360" cy="8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 de votre attention</a:t>
            </a:r>
            <a:endParaRPr b="0" sz="34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24"/>
          <p:cNvSpPr/>
          <p:nvPr/>
        </p:nvSpPr>
        <p:spPr>
          <a:xfrm>
            <a:off x="548640" y="2788920"/>
            <a:ext cx="804636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 strike="noStrike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Questions &amp; Démonstration</a:t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24"/>
          <p:cNvSpPr/>
          <p:nvPr/>
        </p:nvSpPr>
        <p:spPr>
          <a:xfrm>
            <a:off x="548640" y="4480560"/>
            <a:ext cx="804636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Système de Gestion de Flotte Logistique · M1 GIL · Université de Rouen · 2025-2026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